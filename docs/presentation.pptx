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ea3a3c49f74689" /><Relationship Type="http://schemas.openxmlformats.org/officeDocument/2006/relationships/extended-properties" Target="/docProps/app.xml" Id="R8aa65ada26df4faa" /><Relationship Type="http://schemas.openxmlformats.org/officeDocument/2006/relationships/officeDocument" Target="/ppt/presentation.xml" Id="R12c13fa3bdd34dab" /></Relationships>
</file>

<file path=ppt/presentation.xml><?xml version="1.0" encoding="utf-8"?>
<p:presentation xmlns:p="http://schemas.openxmlformats.org/presentationml/2006/main">
  <p:sldMasterIdLst>
    <p:sldMasterId xmlns:r="http://schemas.openxmlformats.org/officeDocument/2006/relationships" id="2147483648" r:id="R8b2686e5726a4056"/>
  </p:sldMasterIdLst>
  <p:notesMasterIdLst>
    <p:notesMasterId xmlns:r="http://schemas.openxmlformats.org/officeDocument/2006/relationships" r:id="R2bfd80313ade4b99"/>
  </p:notesMasterIdLst>
  <p:sldIdLst>
    <p:sldId xmlns:r="http://schemas.openxmlformats.org/officeDocument/2006/relationships" id="256" r:id="Rd2784a273b3346fb"/>
    <p:sldId xmlns:r="http://schemas.openxmlformats.org/officeDocument/2006/relationships" id="257" r:id="R7ea956349b9e4f5a"/>
    <p:sldId xmlns:r="http://schemas.openxmlformats.org/officeDocument/2006/relationships" id="258" r:id="Rbc2e372e8396420e"/>
    <p:sldId xmlns:r="http://schemas.openxmlformats.org/officeDocument/2006/relationships" id="259" r:id="R1ec9601ecef24671"/>
    <p:sldId xmlns:r="http://schemas.openxmlformats.org/officeDocument/2006/relationships" id="260" r:id="Rf015799fcbc24230"/>
    <p:sldId xmlns:r="http://schemas.openxmlformats.org/officeDocument/2006/relationships" id="261" r:id="Re18ea40a292a4a0b"/>
    <p:sldId xmlns:r="http://schemas.openxmlformats.org/officeDocument/2006/relationships" id="262" r:id="Ra282701fa3254c7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a6bab3f9ae642b5" /><Relationship Type="http://schemas.openxmlformats.org/officeDocument/2006/relationships/slideMaster" Target="/ppt/slideMasters/slideMaster1.xml" Id="R8b2686e5726a4056" /><Relationship Type="http://schemas.openxmlformats.org/officeDocument/2006/relationships/notesMaster" Target="/ppt/notesMasters/notesMaster1.xml" Id="R2bfd80313ade4b99" /><Relationship Type="http://schemas.openxmlformats.org/officeDocument/2006/relationships/presProps" Target="/ppt/presProps.xml" Id="R3c1fe41cb3574c9d" /><Relationship Type="http://schemas.openxmlformats.org/officeDocument/2006/relationships/tableStyles" Target="/ppt/tableStyles.xml" Id="R3e638631d42f4e82" /><Relationship Type="http://schemas.openxmlformats.org/officeDocument/2006/relationships/slide" Target="/ppt/slides/slide1.xml" Id="Rd2784a273b3346fb" /><Relationship Type="http://schemas.openxmlformats.org/officeDocument/2006/relationships/slide" Target="/ppt/slides/slide2.xml" Id="R7ea956349b9e4f5a" /><Relationship Type="http://schemas.openxmlformats.org/officeDocument/2006/relationships/slide" Target="/ppt/slides/slide3.xml" Id="Rbc2e372e8396420e" /><Relationship Type="http://schemas.openxmlformats.org/officeDocument/2006/relationships/slide" Target="/ppt/slides/slide4.xml" Id="R1ec9601ecef24671" /><Relationship Type="http://schemas.openxmlformats.org/officeDocument/2006/relationships/slide" Target="/ppt/slides/slide5.xml" Id="Rf015799fcbc24230" /><Relationship Type="http://schemas.openxmlformats.org/officeDocument/2006/relationships/slide" Target="/ppt/slides/slide6.xml" Id="Re18ea40a292a4a0b" /><Relationship Type="http://schemas.openxmlformats.org/officeDocument/2006/relationships/slide" Target="/ppt/slides/slide7.xml" Id="Ra282701fa3254c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2b8182776a4d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d78ac69753743e8" /><Relationship Type="http://schemas.openxmlformats.org/officeDocument/2006/relationships/notesMaster" Target="/ppt/notesMasters/notesMaster1.xml" Id="Redc61532ff6f43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434cbb628c4815" /><Relationship Type="http://schemas.openxmlformats.org/officeDocument/2006/relationships/notesMaster" Target="/ppt/notesMasters/notesMaster1.xml" Id="Ra50fc9b11f9742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6824438774432d" /><Relationship Type="http://schemas.openxmlformats.org/officeDocument/2006/relationships/notesMaster" Target="/ppt/notesMasters/notesMaster1.xml" Id="Rf25d637b0780470c"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d7f67752814f4a" /><Relationship Type="http://schemas.openxmlformats.org/officeDocument/2006/relationships/notesMaster" Target="/ppt/notesMasters/notesMaster1.xml" Id="Rffa549a5c98c476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65c701d9af94d61" /><Relationship Type="http://schemas.openxmlformats.org/officeDocument/2006/relationships/notesMaster" Target="/ppt/notesMasters/notesMaster1.xml" Id="Rdd1edeff50b045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a61bcd1a04c48ce" /><Relationship Type="http://schemas.openxmlformats.org/officeDocument/2006/relationships/notesMaster" Target="/ppt/notesMasters/notesMaster1.xml" Id="Rac5548d8abe64345"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b66f8c74cf4f71" /><Relationship Type="http://schemas.openxmlformats.org/officeDocument/2006/relationships/notesMaster" Target="/ppt/notesMasters/notesMaster1.xml" Id="R4a06796e465d49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 negative headline is only the beginning. Which issuer is exposed, which positions should we stress, and can another analyst reproduce the result? This is an individual prototype by Devanshi Gupta. AI assistance supported implementation, documentation and testing.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data/synthetic_portfolio.csv; data/scenarios.json; src/reporting/report.py. The business value is consistent issuer mapping and a traceable analyst discussion. No measured productivity or client deployment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app.py; src/nlp/analyzer.py; src/risk/stress.py; src/reporting/report.py. All components run offline after installation. The classifier is rule-based, not trained. The fingerprint identifies the input and assumptions, not a security signature.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actual screenshot docs/workbench.png captured from the local Streamlit app, 19 October 2026. Demo: choose NEWS-002, Credit Event, Example Bank Ltd, intensity 9. Click Run portfolio stress test. Explain that the sensitivity curve is deterministic, not probabilistic.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results/demo/bank_credit_audit.json, regenerated by python scripts/reproduce.py. Calculation: 200000*(-.12)*.9 + 250000*(-.15)*.9 + 100000*(-.08)*.9 = -62550. Naive all-issuer comparison includes unrelated positions using the same asset-type shocks. No measured loss avoidance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results/real_data/metrics.json; docs/real_data_evaluation.md; https://huggingface.co/datasets/takala/financial_phrasebank (Malo et al., 2014, CC BY-NC-SA 3.0). Current rules re-evaluated on retained labelled inputs 19 October 2026 without tuning. Historical sources: data/market_data/price_cache.csv and results/market_data/event_returns.csv. KRE SVB bank-run period 2023-03-09; XLF broad US financial ETF during Credit Suisse crisis 2023-03-15, not Credit Suisse equity; EWU UK mini-budget 2022-09-23. SPY is a broad comparator, not a causal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how you would separate training, validation and test periods for a future model. A contextual model such as FinBERT is a comparison candidate, not a proven improvement here. Bond duration, credit spread and swap DV01 require instrument data absent from this demonstration. The software tests establish consistency, not real-world prediction accuracy.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f052b21f8b42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7ed0106d5e43d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0465b51fa494a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28da37660a543f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2b30092920f41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ce1a34659e0418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EB44B0-CDA5-48DC-9648-56624900F24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72D0D5E-0C9D-4553-B0D1-8FF85B6E87F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6322049-9811-4CC7-829A-714036D1D3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B781ED-8C45-4D87-A92F-B2299E83B3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1271AC-EF4B-4E39-A7B6-AA7D8C6A2D4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14922ED-B3C4-41FA-AF38-C308FB96053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FFC8BD-C260-48A7-A460-CB935764E45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A2A8CBC-AB64-41D0-8F25-57867A8078A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220DF8-3211-4870-9591-10CD0AAF5CE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9E85F76-71EC-4837-A699-17CACA2B3A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483d7244ab3408b" /><Relationship Type="http://schemas.openxmlformats.org/officeDocument/2006/relationships/slideLayout" Target="/ppt/slideLayouts/slideLayout1.xml" Id="Rb9105d7361534e95" /><Relationship Type="http://schemas.openxmlformats.org/officeDocument/2006/relationships/slideLayout" Target="/ppt/slideLayouts/slideLayout2.xml" Id="Red2056a9a9c6448c" /><Relationship Type="http://schemas.openxmlformats.org/officeDocument/2006/relationships/slideLayout" Target="/ppt/slideLayouts/slideLayout3.xml" Id="Ra12f2ac87b404839" /><Relationship Type="http://schemas.openxmlformats.org/officeDocument/2006/relationships/slideLayout" Target="/ppt/slideLayouts/slideLayout4.xml" Id="R342f9e0316de4f61" /><Relationship Type="http://schemas.openxmlformats.org/officeDocument/2006/relationships/slideLayout" Target="/ppt/slideLayouts/slideLayout5.xml" Id="Rbbbb09b2f1fa4158" /><Relationship Type="http://schemas.openxmlformats.org/officeDocument/2006/relationships/slideLayout" Target="/ppt/slideLayouts/slideLayout6.xml" Id="R9b7e4372612f4d9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105d7361534e95"/>
    <p:sldLayoutId xmlns:r="http://schemas.openxmlformats.org/officeDocument/2006/relationships" id="2147483650" r:id="Red2056a9a9c6448c"/>
    <p:sldLayoutId xmlns:r="http://schemas.openxmlformats.org/officeDocument/2006/relationships" id="2147483651" r:id="Ra12f2ac87b404839"/>
    <p:sldLayoutId xmlns:r="http://schemas.openxmlformats.org/officeDocument/2006/relationships" id="2147483652" r:id="R342f9e0316de4f61"/>
    <p:sldLayoutId xmlns:r="http://schemas.openxmlformats.org/officeDocument/2006/relationships" id="2147483653" r:id="Rbbbb09b2f1fa4158"/>
    <p:sldLayoutId xmlns:r="http://schemas.openxmlformats.org/officeDocument/2006/relationships" id="2147483654" r:id="R9b7e4372612f4d9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38037b7ff743a8" /><Relationship Type="http://schemas.openxmlformats.org/officeDocument/2006/relationships/notesSlide" Target="/ppt/notesSlides/notesSlide1.xml" Id="R08f185126f8b466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33789e358a14225" /><Relationship Type="http://schemas.openxmlformats.org/officeDocument/2006/relationships/notesSlide" Target="/ppt/notesSlides/notesSlide2.xml" Id="R851498bea20647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ec3076ad6d4634" /><Relationship Type="http://schemas.openxmlformats.org/officeDocument/2006/relationships/notesSlide" Target="/ppt/notesSlides/notesSlide3.xml" Id="R07bf8a09e25a475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2ce5a5ceedd4e89" /><Relationship Type="http://schemas.openxmlformats.org/officeDocument/2006/relationships/image" Target="/ppt/media/image.jpeg" Id="R906c8c809e354a98" /><Relationship Type="http://schemas.openxmlformats.org/officeDocument/2006/relationships/notesSlide" Target="/ppt/notesSlides/notesSlide4.xml" Id="Rfc236e5d9c5447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6771a6ab14d43d3" /><Relationship Type="http://schemas.openxmlformats.org/officeDocument/2006/relationships/notesSlide" Target="/ppt/notesSlides/notesSlide5.xml" Id="Rd80e17ad15d44cc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ccff1d2f9ba42b1" /><Relationship Type="http://schemas.openxmlformats.org/officeDocument/2006/relationships/notesSlide" Target="/ppt/notesSlides/notesSlide6.xml" Id="Rfc7feeb8f8b74c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d4c5540576f4853" /><Relationship Type="http://schemas.openxmlformats.org/officeDocument/2006/relationships/notesSlide" Target="/ppt/notesSlides/notesSlide7.xml" Id="R2c0987611f874a2a" /></Relationships>
</file>

<file path=ppt/slides/slide1.xml><?xml version="1.0" encoding="utf-8"?>
<p:sld xmlns:p="http://schemas.openxmlformats.org/presentationml/2006/main">
  <p:cSld>
    <p:bg>
      <p:bgPr>
        <a:solidFill xmlns:a="http://schemas.openxmlformats.org/drawingml/2006/main">
          <a:srgbClr val="173A3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5D7FDA5-F063-4043-874A-EE76020AEC6A}"/>
              </a:ext>
            </a:extLst>
          </p:cNvPr>
          <p:cNvSpPr>
            <a:spLocks xmlns:a="http://schemas.openxmlformats.org/drawingml/2006/main" noGrp="1"/>
          </p:cNvSpPr>
          <p:nvPr/>
        </p:nvSpPr>
        <p:spPr>
          <a:xfrm xmlns:a="http://schemas.openxmlformats.org/drawingml/2006/main">
            <a:off x="609600" y="11430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700" b="1">
                <a:solidFill>
                  <a:srgbClr val="F7F4EC"/>
                </a:solidFill>
                <a:latin typeface="Arial"/>
                <a:ea typeface="Arial"/>
                <a:cs typeface="Arial"/>
              </a:defRPr>
            </a:defPPr>
            <a:lvl1pPr>
              <a:defRPr sz="5700" b="1">
                <a:solidFill>
                  <a:srgbClr val="F7F4EC"/>
                </a:solidFill>
                <a:latin typeface="Arial"/>
                <a:ea typeface="Arial"/>
                <a:cs typeface="Arial"/>
              </a:defRPr>
            </a:lvl1pPr>
            <a:lvl2pPr>
              <a:defRPr sz="5700" b="1">
                <a:solidFill>
                  <a:srgbClr val="F7F4EC"/>
                </a:solidFill>
                <a:latin typeface="Arial"/>
                <a:ea typeface="Arial"/>
                <a:cs typeface="Arial"/>
              </a:defRPr>
            </a:lvl2pPr>
            <a:lvl3pPr>
              <a:defRPr sz="5700" b="1">
                <a:solidFill>
                  <a:srgbClr val="F7F4EC"/>
                </a:solidFill>
                <a:latin typeface="Arial"/>
                <a:ea typeface="Arial"/>
                <a:cs typeface="Arial"/>
              </a:defRPr>
            </a:lvl3pPr>
            <a:lvl4pPr>
              <a:defRPr sz="5700" b="1">
                <a:solidFill>
                  <a:srgbClr val="F7F4EC"/>
                </a:solidFill>
                <a:latin typeface="Arial"/>
                <a:ea typeface="Arial"/>
                <a:cs typeface="Arial"/>
              </a:defRPr>
            </a:lvl4pPr>
            <a:lvl5pPr>
              <a:defRPr sz="5700" b="1">
                <a:solidFill>
                  <a:srgbClr val="F7F4EC"/>
                </a:solidFill>
                <a:latin typeface="Arial"/>
                <a:ea typeface="Arial"/>
                <a:cs typeface="Arial"/>
              </a:defRPr>
            </a:lvl5pPr>
            <a:lvl6pPr>
              <a:defRPr sz="5700" b="1">
                <a:solidFill>
                  <a:srgbClr val="F7F4EC"/>
                </a:solidFill>
                <a:latin typeface="Arial"/>
                <a:ea typeface="Arial"/>
                <a:cs typeface="Arial"/>
              </a:defRPr>
            </a:lvl6pPr>
            <a:lvl7pPr>
              <a:defRPr sz="5700" b="1">
                <a:solidFill>
                  <a:srgbClr val="F7F4EC"/>
                </a:solidFill>
                <a:latin typeface="Arial"/>
                <a:ea typeface="Arial"/>
                <a:cs typeface="Arial"/>
              </a:defRPr>
            </a:lvl7pPr>
            <a:lvl8pPr>
              <a:defRPr sz="5700" b="1">
                <a:solidFill>
                  <a:srgbClr val="F7F4EC"/>
                </a:solidFill>
                <a:latin typeface="Arial"/>
                <a:ea typeface="Arial"/>
                <a:cs typeface="Arial"/>
              </a:defRPr>
            </a:lvl8pPr>
            <a:lvl9pPr>
              <a:defRPr sz="5700" b="1">
                <a:solidFill>
                  <a:srgbClr val="F7F4EC"/>
                </a:solidFill>
                <a:latin typeface="Arial"/>
                <a:ea typeface="Arial"/>
                <a:cs typeface="Arial"/>
              </a:defRPr>
            </a:lvl9pPr>
          </a:lstStyle>
          <a:p xmlns:a="http://schemas.openxmlformats.org/drawingml/2006/main">
            <a:pPr>
              <a:defRPr sz="5700" b="1">
                <a:solidFill>
                  <a:srgbClr val="F7F4EC"/>
                </a:solidFill>
                <a:latin typeface="Arial"/>
                <a:ea typeface="Arial"/>
                <a:cs typeface="Arial"/>
              </a:defRPr>
            </a:pPr>
            <a:r>
              <a:rPr sz="5700" b="1">
                <a:solidFill>
                  <a:srgbClr val="F7F4EC"/>
                </a:solidFill>
                <a:latin typeface="Arial"/>
                <a:ea typeface="Arial"/>
                <a:cs typeface="Arial"/>
              </a:rPr>
              <a:t>Signal-to-Shock</a:t>
            </a:r>
          </a:p>
        </p:txBody>
      </p:sp>
      <p:sp>
        <p:nvSpPr>
          <p:cNvPr id="2" name="">
            <a:extLst xmlns:a="http://schemas.openxmlformats.org/drawingml/2006/main">
              <a:ext uri="{FF2B5EF4-FFF2-40B4-BE49-F238E27FC236}">
                <a16:creationId xmlns:a16="http://schemas.microsoft.com/office/drawing/2014/main" id="{BA14E3DA-B9A0-429E-BDDD-B454A3C48E75}"/>
              </a:ext>
            </a:extLst>
          </p:cNvPr>
          <p:cNvSpPr>
            <a:spLocks xmlns:a="http://schemas.openxmlformats.org/drawingml/2006/main" noGrp="1"/>
          </p:cNvSpPr>
          <p:nvPr/>
        </p:nvSpPr>
        <p:spPr>
          <a:xfrm xmlns:a="http://schemas.openxmlformats.org/drawingml/2006/main">
            <a:off x="647700" y="2447925"/>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DCE9DF"/>
                </a:solidFill>
                <a:latin typeface="Arial"/>
                <a:ea typeface="Arial"/>
                <a:cs typeface="Arial"/>
              </a:defRPr>
            </a:defPPr>
            <a:lvl1pPr>
              <a:defRPr sz="3000" b="0">
                <a:solidFill>
                  <a:srgbClr val="DCE9DF"/>
                </a:solidFill>
                <a:latin typeface="Arial"/>
                <a:ea typeface="Arial"/>
                <a:cs typeface="Arial"/>
              </a:defRPr>
            </a:lvl1pPr>
            <a:lvl2pPr>
              <a:defRPr sz="3000" b="0">
                <a:solidFill>
                  <a:srgbClr val="DCE9DF"/>
                </a:solidFill>
                <a:latin typeface="Arial"/>
                <a:ea typeface="Arial"/>
                <a:cs typeface="Arial"/>
              </a:defRPr>
            </a:lvl2pPr>
            <a:lvl3pPr>
              <a:defRPr sz="3000" b="0">
                <a:solidFill>
                  <a:srgbClr val="DCE9DF"/>
                </a:solidFill>
                <a:latin typeface="Arial"/>
                <a:ea typeface="Arial"/>
                <a:cs typeface="Arial"/>
              </a:defRPr>
            </a:lvl3pPr>
            <a:lvl4pPr>
              <a:defRPr sz="3000" b="0">
                <a:solidFill>
                  <a:srgbClr val="DCE9DF"/>
                </a:solidFill>
                <a:latin typeface="Arial"/>
                <a:ea typeface="Arial"/>
                <a:cs typeface="Arial"/>
              </a:defRPr>
            </a:lvl4pPr>
            <a:lvl5pPr>
              <a:defRPr sz="3000" b="0">
                <a:solidFill>
                  <a:srgbClr val="DCE9DF"/>
                </a:solidFill>
                <a:latin typeface="Arial"/>
                <a:ea typeface="Arial"/>
                <a:cs typeface="Arial"/>
              </a:defRPr>
            </a:lvl5pPr>
            <a:lvl6pPr>
              <a:defRPr sz="3000" b="0">
                <a:solidFill>
                  <a:srgbClr val="DCE9DF"/>
                </a:solidFill>
                <a:latin typeface="Arial"/>
                <a:ea typeface="Arial"/>
                <a:cs typeface="Arial"/>
              </a:defRPr>
            </a:lvl6pPr>
            <a:lvl7pPr>
              <a:defRPr sz="3000" b="0">
                <a:solidFill>
                  <a:srgbClr val="DCE9DF"/>
                </a:solidFill>
                <a:latin typeface="Arial"/>
                <a:ea typeface="Arial"/>
                <a:cs typeface="Arial"/>
              </a:defRPr>
            </a:lvl7pPr>
            <a:lvl8pPr>
              <a:defRPr sz="3000" b="0">
                <a:solidFill>
                  <a:srgbClr val="DCE9DF"/>
                </a:solidFill>
                <a:latin typeface="Arial"/>
                <a:ea typeface="Arial"/>
                <a:cs typeface="Arial"/>
              </a:defRPr>
            </a:lvl8pPr>
            <a:lvl9pPr>
              <a:defRPr sz="3000" b="0">
                <a:solidFill>
                  <a:srgbClr val="DCE9DF"/>
                </a:solidFill>
                <a:latin typeface="Arial"/>
                <a:ea typeface="Arial"/>
                <a:cs typeface="Arial"/>
              </a:defRPr>
            </a:lvl9pPr>
          </a:lstStyle>
          <a:p xmlns:a="http://schemas.openxmlformats.org/drawingml/2006/main">
            <a:pPr>
              <a:defRPr sz="3000" b="0">
                <a:solidFill>
                  <a:srgbClr val="DCE9DF"/>
                </a:solidFill>
                <a:latin typeface="Arial"/>
                <a:ea typeface="Arial"/>
                <a:cs typeface="Arial"/>
              </a:defRPr>
            </a:pPr>
            <a:r>
              <a:rPr sz="3000" b="0">
                <a:solidFill>
                  <a:srgbClr val="DCE9DF"/>
                </a:solidFill>
                <a:latin typeface="Arial"/>
                <a:ea typeface="Arial"/>
                <a:cs typeface="Arial"/>
              </a:rPr>
              <a:t>Financial event intelligence</a:t>
            </a:r>
          </a:p>
          <a:p xmlns:a="http://schemas.openxmlformats.org/drawingml/2006/main">
            <a:pPr>
              <a:defRPr sz="3000" b="0">
                <a:solidFill>
                  <a:srgbClr val="DCE9DF"/>
                </a:solidFill>
                <a:latin typeface="Arial"/>
                <a:ea typeface="Arial"/>
                <a:cs typeface="Arial"/>
              </a:defRPr>
            </a:pPr>
            <a:r>
              <a:rPr sz="3000" b="0">
                <a:solidFill>
                  <a:srgbClr val="DCE9DF"/>
                </a:solidFill>
                <a:latin typeface="Arial"/>
                <a:ea typeface="Arial"/>
                <a:cs typeface="Arial"/>
              </a:rPr>
              <a:t>and portfolio stress testing</a:t>
            </a:r>
          </a:p>
        </p:txBody>
      </p:sp>
      <p:sp>
        <p:nvSpPr>
          <p:cNvPr id="3" name="">
            <a:extLst xmlns:a="http://schemas.openxmlformats.org/drawingml/2006/main">
              <a:ext uri="{FF2B5EF4-FFF2-40B4-BE49-F238E27FC236}">
                <a16:creationId xmlns:a16="http://schemas.microsoft.com/office/drawing/2014/main" id="{55E0624F-AB15-4C8A-8EB5-DDA18FFE4C5D}"/>
              </a:ext>
            </a:extLst>
          </p:cNvPr>
          <p:cNvSpPr>
            <a:spLocks xmlns:a="http://schemas.openxmlformats.org/drawingml/2006/main" noGrp="1"/>
          </p:cNvSpPr>
          <p:nvPr/>
        </p:nvSpPr>
        <p:spPr>
          <a:xfrm xmlns:a="http://schemas.openxmlformats.org/drawingml/2006/main">
            <a:off x="647700" y="45529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F7F4EC"/>
                </a:solidFill>
                <a:latin typeface="Arial"/>
                <a:ea typeface="Arial"/>
                <a:cs typeface="Arial"/>
              </a:defRPr>
            </a:defPPr>
            <a:lvl1pPr>
              <a:defRPr sz="2025" b="0">
                <a:solidFill>
                  <a:srgbClr val="F7F4EC"/>
                </a:solidFill>
                <a:latin typeface="Arial"/>
                <a:ea typeface="Arial"/>
                <a:cs typeface="Arial"/>
              </a:defRPr>
            </a:lvl1pPr>
            <a:lvl2pPr>
              <a:defRPr sz="2025" b="0">
                <a:solidFill>
                  <a:srgbClr val="F7F4EC"/>
                </a:solidFill>
                <a:latin typeface="Arial"/>
                <a:ea typeface="Arial"/>
                <a:cs typeface="Arial"/>
              </a:defRPr>
            </a:lvl2pPr>
            <a:lvl3pPr>
              <a:defRPr sz="2025" b="0">
                <a:solidFill>
                  <a:srgbClr val="F7F4EC"/>
                </a:solidFill>
                <a:latin typeface="Arial"/>
                <a:ea typeface="Arial"/>
                <a:cs typeface="Arial"/>
              </a:defRPr>
            </a:lvl3pPr>
            <a:lvl4pPr>
              <a:defRPr sz="2025" b="0">
                <a:solidFill>
                  <a:srgbClr val="F7F4EC"/>
                </a:solidFill>
                <a:latin typeface="Arial"/>
                <a:ea typeface="Arial"/>
                <a:cs typeface="Arial"/>
              </a:defRPr>
            </a:lvl4pPr>
            <a:lvl5pPr>
              <a:defRPr sz="2025" b="0">
                <a:solidFill>
                  <a:srgbClr val="F7F4EC"/>
                </a:solidFill>
                <a:latin typeface="Arial"/>
                <a:ea typeface="Arial"/>
                <a:cs typeface="Arial"/>
              </a:defRPr>
            </a:lvl5pPr>
            <a:lvl6pPr>
              <a:defRPr sz="2025" b="0">
                <a:solidFill>
                  <a:srgbClr val="F7F4EC"/>
                </a:solidFill>
                <a:latin typeface="Arial"/>
                <a:ea typeface="Arial"/>
                <a:cs typeface="Arial"/>
              </a:defRPr>
            </a:lvl6pPr>
            <a:lvl7pPr>
              <a:defRPr sz="2025" b="0">
                <a:solidFill>
                  <a:srgbClr val="F7F4EC"/>
                </a:solidFill>
                <a:latin typeface="Arial"/>
                <a:ea typeface="Arial"/>
                <a:cs typeface="Arial"/>
              </a:defRPr>
            </a:lvl7pPr>
            <a:lvl8pPr>
              <a:defRPr sz="2025" b="0">
                <a:solidFill>
                  <a:srgbClr val="F7F4EC"/>
                </a:solidFill>
                <a:latin typeface="Arial"/>
                <a:ea typeface="Arial"/>
                <a:cs typeface="Arial"/>
              </a:defRPr>
            </a:lvl8pPr>
            <a:lvl9pPr>
              <a:defRPr sz="2025" b="0">
                <a:solidFill>
                  <a:srgbClr val="F7F4EC"/>
                </a:solidFill>
                <a:latin typeface="Arial"/>
                <a:ea typeface="Arial"/>
                <a:cs typeface="Arial"/>
              </a:defRPr>
            </a:lvl9pPr>
          </a:lstStyle>
          <a:p xmlns:a="http://schemas.openxmlformats.org/drawingml/2006/main">
            <a:pPr>
              <a:defRPr sz="2025" b="0">
                <a:solidFill>
                  <a:srgbClr val="F7F4EC"/>
                </a:solidFill>
                <a:latin typeface="Arial"/>
                <a:ea typeface="Arial"/>
                <a:cs typeface="Arial"/>
              </a:defRPr>
            </a:pPr>
            <a:r>
              <a:rPr sz="2025" b="0">
                <a:solidFill>
                  <a:srgbClr val="F7F4EC"/>
                </a:solidFill>
                <a:latin typeface="Arial"/>
                <a:ea typeface="Arial"/>
                <a:cs typeface="Arial"/>
              </a:rPr>
              <a:t>Devanshi Gupta</a:t>
            </a:r>
          </a:p>
          <a:p xmlns:a="http://schemas.openxmlformats.org/drawingml/2006/main">
            <a:pPr>
              <a:defRPr sz="2025" b="0">
                <a:solidFill>
                  <a:srgbClr val="F7F4EC"/>
                </a:solidFill>
                <a:latin typeface="Arial"/>
                <a:ea typeface="Arial"/>
                <a:cs typeface="Arial"/>
              </a:defRPr>
            </a:pPr>
            <a:r>
              <a:rPr sz="2025" b="0">
                <a:solidFill>
                  <a:srgbClr val="F7F4EC"/>
                </a:solidFill>
                <a:latin typeface="Arial"/>
                <a:ea typeface="Arial"/>
                <a:cs typeface="Arial"/>
              </a:rPr>
              <a:t>Indira Gandhi Delhi Technical University for Women</a:t>
            </a:r>
          </a:p>
        </p:txBody>
      </p:sp>
      <p:sp>
        <p:nvSpPr>
          <p:cNvPr id="4" name="">
            <a:extLst xmlns:a="http://schemas.openxmlformats.org/drawingml/2006/main">
              <a:ext uri="{FF2B5EF4-FFF2-40B4-BE49-F238E27FC236}">
                <a16:creationId xmlns:a16="http://schemas.microsoft.com/office/drawing/2014/main" id="{858561BD-FECF-47EF-BE19-66F922F16798}"/>
              </a:ext>
            </a:extLst>
          </p:cNvPr>
          <p:cNvSpPr>
            <a:spLocks xmlns:a="http://schemas.openxmlformats.org/drawingml/2006/main" noGrp="1"/>
          </p:cNvSpPr>
          <p:nvPr/>
        </p:nvSpPr>
        <p:spPr>
          <a:xfrm xmlns:a="http://schemas.openxmlformats.org/drawingml/2006/main">
            <a:off x="647700" y="5476875"/>
            <a:ext cx="1000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DCE9DF"/>
                </a:solidFill>
                <a:latin typeface="Arial"/>
                <a:ea typeface="Arial"/>
                <a:cs typeface="Arial"/>
              </a:defRPr>
            </a:defPPr>
            <a:lvl1pPr>
              <a:defRPr sz="1725" b="0">
                <a:solidFill>
                  <a:srgbClr val="DCE9DF"/>
                </a:solidFill>
                <a:latin typeface="Arial"/>
                <a:ea typeface="Arial"/>
                <a:cs typeface="Arial"/>
              </a:defRPr>
            </a:lvl1pPr>
            <a:lvl2pPr>
              <a:defRPr sz="1725" b="0">
                <a:solidFill>
                  <a:srgbClr val="DCE9DF"/>
                </a:solidFill>
                <a:latin typeface="Arial"/>
                <a:ea typeface="Arial"/>
                <a:cs typeface="Arial"/>
              </a:defRPr>
            </a:lvl2pPr>
            <a:lvl3pPr>
              <a:defRPr sz="1725" b="0">
                <a:solidFill>
                  <a:srgbClr val="DCE9DF"/>
                </a:solidFill>
                <a:latin typeface="Arial"/>
                <a:ea typeface="Arial"/>
                <a:cs typeface="Arial"/>
              </a:defRPr>
            </a:lvl3pPr>
            <a:lvl4pPr>
              <a:defRPr sz="1725" b="0">
                <a:solidFill>
                  <a:srgbClr val="DCE9DF"/>
                </a:solidFill>
                <a:latin typeface="Arial"/>
                <a:ea typeface="Arial"/>
                <a:cs typeface="Arial"/>
              </a:defRPr>
            </a:lvl4pPr>
            <a:lvl5pPr>
              <a:defRPr sz="1725" b="0">
                <a:solidFill>
                  <a:srgbClr val="DCE9DF"/>
                </a:solidFill>
                <a:latin typeface="Arial"/>
                <a:ea typeface="Arial"/>
                <a:cs typeface="Arial"/>
              </a:defRPr>
            </a:lvl5pPr>
            <a:lvl6pPr>
              <a:defRPr sz="1725" b="0">
                <a:solidFill>
                  <a:srgbClr val="DCE9DF"/>
                </a:solidFill>
                <a:latin typeface="Arial"/>
                <a:ea typeface="Arial"/>
                <a:cs typeface="Arial"/>
              </a:defRPr>
            </a:lvl6pPr>
            <a:lvl7pPr>
              <a:defRPr sz="1725" b="0">
                <a:solidFill>
                  <a:srgbClr val="DCE9DF"/>
                </a:solidFill>
                <a:latin typeface="Arial"/>
                <a:ea typeface="Arial"/>
                <a:cs typeface="Arial"/>
              </a:defRPr>
            </a:lvl7pPr>
            <a:lvl8pPr>
              <a:defRPr sz="1725" b="0">
                <a:solidFill>
                  <a:srgbClr val="DCE9DF"/>
                </a:solidFill>
                <a:latin typeface="Arial"/>
                <a:ea typeface="Arial"/>
                <a:cs typeface="Arial"/>
              </a:defRPr>
            </a:lvl8pPr>
            <a:lvl9pPr>
              <a:defRPr sz="1725" b="0">
                <a:solidFill>
                  <a:srgbClr val="DCE9DF"/>
                </a:solidFill>
                <a:latin typeface="Arial"/>
                <a:ea typeface="Arial"/>
                <a:cs typeface="Arial"/>
              </a:defRPr>
            </a:lvl9pPr>
          </a:lstStyle>
          <a:p xmlns:a="http://schemas.openxmlformats.org/drawingml/2006/main">
            <a:pPr>
              <a:defRPr sz="1725" b="0">
                <a:solidFill>
                  <a:srgbClr val="DCE9DF"/>
                </a:solidFill>
                <a:latin typeface="Arial"/>
                <a:ea typeface="Arial"/>
                <a:cs typeface="Arial"/>
              </a:defRPr>
            </a:pPr>
            <a:r>
              <a:rPr sz="1725" b="0">
                <a:solidFill>
                  <a:srgbClr val="DCE9DF"/>
                </a:solidFill>
                <a:latin typeface="Arial"/>
                <a:ea typeface="Arial"/>
                <a:cs typeface="Arial"/>
              </a:rPr>
              <a:t>devanshi034bteceai24@igdtuw.ac.in</a:t>
            </a:r>
          </a:p>
        </p:txBody>
      </p:sp>
      <p:sp>
        <p:nvSpPr>
          <p:cNvPr id="5" name="">
            <a:extLst xmlns:a="http://schemas.openxmlformats.org/drawingml/2006/main">
              <a:ext uri="{FF2B5EF4-FFF2-40B4-BE49-F238E27FC236}">
                <a16:creationId xmlns:a16="http://schemas.microsoft.com/office/drawing/2014/main" id="{402B641D-FE7F-439B-9D34-0EFFF4A9069F}"/>
              </a:ext>
            </a:extLst>
          </p:cNvPr>
          <p:cNvSpPr>
            <a:spLocks xmlns:a="http://schemas.openxmlformats.org/drawingml/2006/main" noGrp="1"/>
          </p:cNvSpPr>
          <p:nvPr/>
        </p:nvSpPr>
        <p:spPr>
          <a:xfrm xmlns:a="http://schemas.openxmlformats.org/drawingml/2006/main">
            <a:off x="647700" y="6105525"/>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DCE9DF"/>
                </a:solidFill>
                <a:latin typeface="Arial"/>
                <a:ea typeface="Arial"/>
                <a:cs typeface="Arial"/>
              </a:defRPr>
            </a:defPPr>
            <a:lvl1pPr>
              <a:defRPr sz="1425" b="0">
                <a:solidFill>
                  <a:srgbClr val="DCE9DF"/>
                </a:solidFill>
                <a:latin typeface="Arial"/>
                <a:ea typeface="Arial"/>
                <a:cs typeface="Arial"/>
              </a:defRPr>
            </a:lvl1pPr>
            <a:lvl2pPr>
              <a:defRPr sz="1425" b="0">
                <a:solidFill>
                  <a:srgbClr val="DCE9DF"/>
                </a:solidFill>
                <a:latin typeface="Arial"/>
                <a:ea typeface="Arial"/>
                <a:cs typeface="Arial"/>
              </a:defRPr>
            </a:lvl2pPr>
            <a:lvl3pPr>
              <a:defRPr sz="1425" b="0">
                <a:solidFill>
                  <a:srgbClr val="DCE9DF"/>
                </a:solidFill>
                <a:latin typeface="Arial"/>
                <a:ea typeface="Arial"/>
                <a:cs typeface="Arial"/>
              </a:defRPr>
            </a:lvl3pPr>
            <a:lvl4pPr>
              <a:defRPr sz="1425" b="0">
                <a:solidFill>
                  <a:srgbClr val="DCE9DF"/>
                </a:solidFill>
                <a:latin typeface="Arial"/>
                <a:ea typeface="Arial"/>
                <a:cs typeface="Arial"/>
              </a:defRPr>
            </a:lvl4pPr>
            <a:lvl5pPr>
              <a:defRPr sz="1425" b="0">
                <a:solidFill>
                  <a:srgbClr val="DCE9DF"/>
                </a:solidFill>
                <a:latin typeface="Arial"/>
                <a:ea typeface="Arial"/>
                <a:cs typeface="Arial"/>
              </a:defRPr>
            </a:lvl5pPr>
            <a:lvl6pPr>
              <a:defRPr sz="1425" b="0">
                <a:solidFill>
                  <a:srgbClr val="DCE9DF"/>
                </a:solidFill>
                <a:latin typeface="Arial"/>
                <a:ea typeface="Arial"/>
                <a:cs typeface="Arial"/>
              </a:defRPr>
            </a:lvl6pPr>
            <a:lvl7pPr>
              <a:defRPr sz="1425" b="0">
                <a:solidFill>
                  <a:srgbClr val="DCE9DF"/>
                </a:solidFill>
                <a:latin typeface="Arial"/>
                <a:ea typeface="Arial"/>
                <a:cs typeface="Arial"/>
              </a:defRPr>
            </a:lvl7pPr>
            <a:lvl8pPr>
              <a:defRPr sz="1425" b="0">
                <a:solidFill>
                  <a:srgbClr val="DCE9DF"/>
                </a:solidFill>
                <a:latin typeface="Arial"/>
                <a:ea typeface="Arial"/>
                <a:cs typeface="Arial"/>
              </a:defRPr>
            </a:lvl8pPr>
            <a:lvl9pPr>
              <a:defRPr sz="1425" b="0">
                <a:solidFill>
                  <a:srgbClr val="DCE9DF"/>
                </a:solidFill>
                <a:latin typeface="Arial"/>
                <a:ea typeface="Arial"/>
                <a:cs typeface="Arial"/>
              </a:defRPr>
            </a:lvl9pPr>
          </a:lstStyle>
          <a:p xmlns:a="http://schemas.openxmlformats.org/drawingml/2006/main">
            <a:pPr>
              <a:defRPr sz="1425" b="0">
                <a:solidFill>
                  <a:srgbClr val="DCE9DF"/>
                </a:solidFill>
                <a:latin typeface="Arial"/>
                <a:ea typeface="Arial"/>
                <a:cs typeface="Arial"/>
              </a:defRPr>
            </a:pPr>
            <a:r>
              <a:rPr sz="1425" b="0">
                <a:solidFill>
                  <a:srgbClr val="DCE9DF"/>
                </a:solidFill>
                <a:latin typeface="Arial"/>
                <a:ea typeface="Arial"/>
                <a:cs typeface="Arial"/>
              </a:rPr>
              <a:t>S&amp;P Global &amp; CRISIL Campus Hackathon 2026</a:t>
            </a:r>
          </a:p>
        </p:txBody>
      </p:sp>
    </p:spTree>
    <p:extLst>
      <p:ext uri="{BB962C8B-B14F-4D97-AF65-F5344CB8AC3E}">
        <p14:creationId xmlns:p14="http://schemas.microsoft.com/office/powerpoint/2010/main" val="953291040"/>
      </p:ext>
    </p:extLst>
  </p:cSld>
</p:sld>
</file>

<file path=ppt/slides/slide2.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0FE4EC3-CA96-4436-8043-042CD08E9D3B}"/>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A31"/>
                </a:solidFill>
                <a:latin typeface="Arial"/>
                <a:ea typeface="Arial"/>
                <a:cs typeface="Arial"/>
              </a:defRPr>
            </a:defPPr>
            <a:lvl1pPr>
              <a:defRPr sz="3300" b="1">
                <a:solidFill>
                  <a:srgbClr val="173A31"/>
                </a:solidFill>
                <a:latin typeface="Arial"/>
                <a:ea typeface="Arial"/>
                <a:cs typeface="Arial"/>
              </a:defRPr>
            </a:lvl1pPr>
            <a:lvl2pPr>
              <a:defRPr sz="3300" b="1">
                <a:solidFill>
                  <a:srgbClr val="173A31"/>
                </a:solidFill>
                <a:latin typeface="Arial"/>
                <a:ea typeface="Arial"/>
                <a:cs typeface="Arial"/>
              </a:defRPr>
            </a:lvl2pPr>
            <a:lvl3pPr>
              <a:defRPr sz="3300" b="1">
                <a:solidFill>
                  <a:srgbClr val="173A31"/>
                </a:solidFill>
                <a:latin typeface="Arial"/>
                <a:ea typeface="Arial"/>
                <a:cs typeface="Arial"/>
              </a:defRPr>
            </a:lvl3pPr>
            <a:lvl4pPr>
              <a:defRPr sz="3300" b="1">
                <a:solidFill>
                  <a:srgbClr val="173A31"/>
                </a:solidFill>
                <a:latin typeface="Arial"/>
                <a:ea typeface="Arial"/>
                <a:cs typeface="Arial"/>
              </a:defRPr>
            </a:lvl4pPr>
            <a:lvl5pPr>
              <a:defRPr sz="3300" b="1">
                <a:solidFill>
                  <a:srgbClr val="173A31"/>
                </a:solidFill>
                <a:latin typeface="Arial"/>
                <a:ea typeface="Arial"/>
                <a:cs typeface="Arial"/>
              </a:defRPr>
            </a:lvl5pPr>
            <a:lvl6pPr>
              <a:defRPr sz="3300" b="1">
                <a:solidFill>
                  <a:srgbClr val="173A31"/>
                </a:solidFill>
                <a:latin typeface="Arial"/>
                <a:ea typeface="Arial"/>
                <a:cs typeface="Arial"/>
              </a:defRPr>
            </a:lvl6pPr>
            <a:lvl7pPr>
              <a:defRPr sz="3300" b="1">
                <a:solidFill>
                  <a:srgbClr val="173A31"/>
                </a:solidFill>
                <a:latin typeface="Arial"/>
                <a:ea typeface="Arial"/>
                <a:cs typeface="Arial"/>
              </a:defRPr>
            </a:lvl7pPr>
            <a:lvl8pPr>
              <a:defRPr sz="3300" b="1">
                <a:solidFill>
                  <a:srgbClr val="173A31"/>
                </a:solidFill>
                <a:latin typeface="Arial"/>
                <a:ea typeface="Arial"/>
                <a:cs typeface="Arial"/>
              </a:defRPr>
            </a:lvl8pPr>
            <a:lvl9pPr>
              <a:defRPr sz="3300" b="1">
                <a:solidFill>
                  <a:srgbClr val="173A31"/>
                </a:solidFill>
                <a:latin typeface="Arial"/>
                <a:ea typeface="Arial"/>
                <a:cs typeface="Arial"/>
              </a:defRPr>
            </a:lvl9pPr>
          </a:lstStyle>
          <a:p xmlns:a="http://schemas.openxmlformats.org/drawingml/2006/main">
            <a:pPr>
              <a:defRPr sz="3300" b="1">
                <a:solidFill>
                  <a:srgbClr val="173A31"/>
                </a:solidFill>
                <a:latin typeface="Arial"/>
                <a:ea typeface="Arial"/>
                <a:cs typeface="Arial"/>
              </a:defRPr>
            </a:pPr>
            <a:r>
              <a:rPr sz="3300" b="1">
                <a:solidFill>
                  <a:srgbClr val="173A31"/>
                </a:solidFill>
                <a:latin typeface="Arial"/>
                <a:ea typeface="Arial"/>
                <a:cs typeface="Arial"/>
              </a:rPr>
              <a:t>The analyst’s decision</a:t>
            </a:r>
          </a:p>
        </p:txBody>
      </p:sp>
      <p:sp>
        <p:nvSpPr>
          <p:cNvPr id="2" name="">
            <a:extLst xmlns:a="http://schemas.openxmlformats.org/drawingml/2006/main">
              <a:ext uri="{FF2B5EF4-FFF2-40B4-BE49-F238E27FC236}">
                <a16:creationId xmlns:a16="http://schemas.microsoft.com/office/drawing/2014/main" id="{8D43D8B6-61DE-4DA8-A9C4-FC7C060AA590}"/>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5D"/>
                </a:solidFill>
                <a:latin typeface="Arial"/>
                <a:ea typeface="Arial"/>
                <a:cs typeface="Arial"/>
              </a:defRPr>
            </a:defPPr>
            <a:lvl1pPr>
              <a:defRPr sz="1275" b="0">
                <a:solidFill>
                  <a:srgbClr val="53675D"/>
                </a:solidFill>
                <a:latin typeface="Arial"/>
                <a:ea typeface="Arial"/>
                <a:cs typeface="Arial"/>
              </a:defRPr>
            </a:lvl1pPr>
            <a:lvl2pPr>
              <a:defRPr sz="1275" b="0">
                <a:solidFill>
                  <a:srgbClr val="53675D"/>
                </a:solidFill>
                <a:latin typeface="Arial"/>
                <a:ea typeface="Arial"/>
                <a:cs typeface="Arial"/>
              </a:defRPr>
            </a:lvl2pPr>
            <a:lvl3pPr>
              <a:defRPr sz="1275" b="0">
                <a:solidFill>
                  <a:srgbClr val="53675D"/>
                </a:solidFill>
                <a:latin typeface="Arial"/>
                <a:ea typeface="Arial"/>
                <a:cs typeface="Arial"/>
              </a:defRPr>
            </a:lvl3pPr>
            <a:lvl4pPr>
              <a:defRPr sz="1275" b="0">
                <a:solidFill>
                  <a:srgbClr val="53675D"/>
                </a:solidFill>
                <a:latin typeface="Arial"/>
                <a:ea typeface="Arial"/>
                <a:cs typeface="Arial"/>
              </a:defRPr>
            </a:lvl4pPr>
            <a:lvl5pPr>
              <a:defRPr sz="1275" b="0">
                <a:solidFill>
                  <a:srgbClr val="53675D"/>
                </a:solidFill>
                <a:latin typeface="Arial"/>
                <a:ea typeface="Arial"/>
                <a:cs typeface="Arial"/>
              </a:defRPr>
            </a:lvl5pPr>
            <a:lvl6pPr>
              <a:defRPr sz="1275" b="0">
                <a:solidFill>
                  <a:srgbClr val="53675D"/>
                </a:solidFill>
                <a:latin typeface="Arial"/>
                <a:ea typeface="Arial"/>
                <a:cs typeface="Arial"/>
              </a:defRPr>
            </a:lvl6pPr>
            <a:lvl7pPr>
              <a:defRPr sz="1275" b="0">
                <a:solidFill>
                  <a:srgbClr val="53675D"/>
                </a:solidFill>
                <a:latin typeface="Arial"/>
                <a:ea typeface="Arial"/>
                <a:cs typeface="Arial"/>
              </a:defRPr>
            </a:lvl7pPr>
            <a:lvl8pPr>
              <a:defRPr sz="1275" b="0">
                <a:solidFill>
                  <a:srgbClr val="53675D"/>
                </a:solidFill>
                <a:latin typeface="Arial"/>
                <a:ea typeface="Arial"/>
                <a:cs typeface="Arial"/>
              </a:defRPr>
            </a:lvl8pPr>
            <a:lvl9pPr>
              <a:defRPr sz="1275" b="0">
                <a:solidFill>
                  <a:srgbClr val="53675D"/>
                </a:solidFill>
                <a:latin typeface="Arial"/>
                <a:ea typeface="Arial"/>
                <a:cs typeface="Arial"/>
              </a:defRPr>
            </a:lvl9pPr>
          </a:lstStyle>
          <a:p xmlns:a="http://schemas.openxmlformats.org/drawingml/2006/main">
            <a:pPr>
              <a:defRPr sz="1275" b="0">
                <a:solidFill>
                  <a:srgbClr val="53675D"/>
                </a:solidFill>
                <a:latin typeface="Arial"/>
                <a:ea typeface="Arial"/>
                <a:cs typeface="Arial"/>
              </a:defRPr>
            </a:pPr>
            <a:r>
              <a:rPr sz="1275" b="0">
                <a:solidFill>
                  <a:srgbClr val="53675D"/>
                </a:solidFill>
                <a:latin typeface="Arial"/>
                <a:ea typeface="Arial"/>
                <a:cs typeface="Arial"/>
              </a:rPr>
              <a:t>2 / 7</a:t>
            </a:r>
          </a:p>
        </p:txBody>
      </p:sp>
      <p:sp>
        <p:nvSpPr>
          <p:cNvPr id="3" name="">
            <a:extLst xmlns:a="http://schemas.openxmlformats.org/drawingml/2006/main">
              <a:ext uri="{FF2B5EF4-FFF2-40B4-BE49-F238E27FC236}">
                <a16:creationId xmlns:a16="http://schemas.microsoft.com/office/drawing/2014/main" id="{9C75B3D3-5D32-4BD2-A6AA-701E16111E46}"/>
              </a:ext>
            </a:extLst>
          </p:cNvPr>
          <p:cNvSpPr>
            <a:spLocks xmlns:a="http://schemas.openxmlformats.org/drawingml/2006/main" noGrp="1"/>
          </p:cNvSpPr>
          <p:nvPr/>
        </p:nvSpPr>
        <p:spPr>
          <a:xfrm xmlns:a="http://schemas.openxmlformats.org/drawingml/2006/main">
            <a:off x="609600" y="152400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285B4A"/>
                </a:solidFill>
                <a:latin typeface="Arial"/>
                <a:ea typeface="Arial"/>
                <a:cs typeface="Arial"/>
              </a:defRPr>
            </a:defPPr>
            <a:lvl1pPr>
              <a:defRPr sz="2850" b="1">
                <a:solidFill>
                  <a:srgbClr val="285B4A"/>
                </a:solidFill>
                <a:latin typeface="Arial"/>
                <a:ea typeface="Arial"/>
                <a:cs typeface="Arial"/>
              </a:defRPr>
            </a:lvl1pPr>
            <a:lvl2pPr>
              <a:defRPr sz="2850" b="1">
                <a:solidFill>
                  <a:srgbClr val="285B4A"/>
                </a:solidFill>
                <a:latin typeface="Arial"/>
                <a:ea typeface="Arial"/>
                <a:cs typeface="Arial"/>
              </a:defRPr>
            </a:lvl2pPr>
            <a:lvl3pPr>
              <a:defRPr sz="2850" b="1">
                <a:solidFill>
                  <a:srgbClr val="285B4A"/>
                </a:solidFill>
                <a:latin typeface="Arial"/>
                <a:ea typeface="Arial"/>
                <a:cs typeface="Arial"/>
              </a:defRPr>
            </a:lvl3pPr>
            <a:lvl4pPr>
              <a:defRPr sz="2850" b="1">
                <a:solidFill>
                  <a:srgbClr val="285B4A"/>
                </a:solidFill>
                <a:latin typeface="Arial"/>
                <a:ea typeface="Arial"/>
                <a:cs typeface="Arial"/>
              </a:defRPr>
            </a:lvl4pPr>
            <a:lvl5pPr>
              <a:defRPr sz="2850" b="1">
                <a:solidFill>
                  <a:srgbClr val="285B4A"/>
                </a:solidFill>
                <a:latin typeface="Arial"/>
                <a:ea typeface="Arial"/>
                <a:cs typeface="Arial"/>
              </a:defRPr>
            </a:lvl5pPr>
            <a:lvl6pPr>
              <a:defRPr sz="2850" b="1">
                <a:solidFill>
                  <a:srgbClr val="285B4A"/>
                </a:solidFill>
                <a:latin typeface="Arial"/>
                <a:ea typeface="Arial"/>
                <a:cs typeface="Arial"/>
              </a:defRPr>
            </a:lvl6pPr>
            <a:lvl7pPr>
              <a:defRPr sz="2850" b="1">
                <a:solidFill>
                  <a:srgbClr val="285B4A"/>
                </a:solidFill>
                <a:latin typeface="Arial"/>
                <a:ea typeface="Arial"/>
                <a:cs typeface="Arial"/>
              </a:defRPr>
            </a:lvl7pPr>
            <a:lvl8pPr>
              <a:defRPr sz="2850" b="1">
                <a:solidFill>
                  <a:srgbClr val="285B4A"/>
                </a:solidFill>
                <a:latin typeface="Arial"/>
                <a:ea typeface="Arial"/>
                <a:cs typeface="Arial"/>
              </a:defRPr>
            </a:lvl8pPr>
            <a:lvl9pPr>
              <a:defRPr sz="2850" b="1">
                <a:solidFill>
                  <a:srgbClr val="285B4A"/>
                </a:solidFill>
                <a:latin typeface="Arial"/>
                <a:ea typeface="Arial"/>
                <a:cs typeface="Arial"/>
              </a:defRPr>
            </a:lvl9pPr>
          </a:lstStyle>
          <a:p xmlns:a="http://schemas.openxmlformats.org/drawingml/2006/main">
            <a:pPr>
              <a:defRPr sz="2850" b="1">
                <a:solidFill>
                  <a:srgbClr val="285B4A"/>
                </a:solidFill>
                <a:latin typeface="Arial"/>
                <a:ea typeface="Arial"/>
                <a:cs typeface="Arial"/>
              </a:defRPr>
            </a:pPr>
            <a:r>
              <a:rPr sz="2850" b="1">
                <a:solidFill>
                  <a:srgbClr val="285B4A"/>
                </a:solidFill>
                <a:latin typeface="Arial"/>
                <a:ea typeface="Arial"/>
                <a:cs typeface="Arial"/>
              </a:rPr>
              <a:t>Which positions should this headline affect?</a:t>
            </a:r>
          </a:p>
        </p:txBody>
      </p:sp>
      <p:sp>
        <p:nvSpPr>
          <p:cNvPr id="4" name="">
            <a:extLst xmlns:a="http://schemas.openxmlformats.org/drawingml/2006/main">
              <a:ext uri="{FF2B5EF4-FFF2-40B4-BE49-F238E27FC236}">
                <a16:creationId xmlns:a16="http://schemas.microsoft.com/office/drawing/2014/main" id="{0CA3883B-C631-480A-8989-0F692F59EE4F}"/>
              </a:ext>
            </a:extLst>
          </p:cNvPr>
          <p:cNvSpPr>
            <a:spLocks xmlns:a="http://schemas.openxmlformats.org/drawingml/2006/main" noGrp="1"/>
          </p:cNvSpPr>
          <p:nvPr/>
        </p:nvSpPr>
        <p:spPr>
          <a:xfrm xmlns:a="http://schemas.openxmlformats.org/drawingml/2006/main">
            <a:off x="609600" y="2524125"/>
            <a:ext cx="6572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A31"/>
                </a:solidFill>
                <a:latin typeface="Arial"/>
                <a:ea typeface="Arial"/>
                <a:cs typeface="Arial"/>
              </a:defRPr>
            </a:defPPr>
            <a:lvl1pPr>
              <a:defRPr sz="2175" b="0">
                <a:solidFill>
                  <a:srgbClr val="173A31"/>
                </a:solidFill>
                <a:latin typeface="Arial"/>
                <a:ea typeface="Arial"/>
                <a:cs typeface="Arial"/>
              </a:defRPr>
            </a:lvl1pPr>
            <a:lvl2pPr>
              <a:defRPr sz="2175" b="0">
                <a:solidFill>
                  <a:srgbClr val="173A31"/>
                </a:solidFill>
                <a:latin typeface="Arial"/>
                <a:ea typeface="Arial"/>
                <a:cs typeface="Arial"/>
              </a:defRPr>
            </a:lvl2pPr>
            <a:lvl3pPr>
              <a:defRPr sz="2175" b="0">
                <a:solidFill>
                  <a:srgbClr val="173A31"/>
                </a:solidFill>
                <a:latin typeface="Arial"/>
                <a:ea typeface="Arial"/>
                <a:cs typeface="Arial"/>
              </a:defRPr>
            </a:lvl3pPr>
            <a:lvl4pPr>
              <a:defRPr sz="2175" b="0">
                <a:solidFill>
                  <a:srgbClr val="173A31"/>
                </a:solidFill>
                <a:latin typeface="Arial"/>
                <a:ea typeface="Arial"/>
                <a:cs typeface="Arial"/>
              </a:defRPr>
            </a:lvl4pPr>
            <a:lvl5pPr>
              <a:defRPr sz="2175" b="0">
                <a:solidFill>
                  <a:srgbClr val="173A31"/>
                </a:solidFill>
                <a:latin typeface="Arial"/>
                <a:ea typeface="Arial"/>
                <a:cs typeface="Arial"/>
              </a:defRPr>
            </a:lvl5pPr>
            <a:lvl6pPr>
              <a:defRPr sz="2175" b="0">
                <a:solidFill>
                  <a:srgbClr val="173A31"/>
                </a:solidFill>
                <a:latin typeface="Arial"/>
                <a:ea typeface="Arial"/>
                <a:cs typeface="Arial"/>
              </a:defRPr>
            </a:lvl6pPr>
            <a:lvl7pPr>
              <a:defRPr sz="2175" b="0">
                <a:solidFill>
                  <a:srgbClr val="173A31"/>
                </a:solidFill>
                <a:latin typeface="Arial"/>
                <a:ea typeface="Arial"/>
                <a:cs typeface="Arial"/>
              </a:defRPr>
            </a:lvl7pPr>
            <a:lvl8pPr>
              <a:defRPr sz="2175" b="0">
                <a:solidFill>
                  <a:srgbClr val="173A31"/>
                </a:solidFill>
                <a:latin typeface="Arial"/>
                <a:ea typeface="Arial"/>
                <a:cs typeface="Arial"/>
              </a:defRPr>
            </a:lvl8pPr>
            <a:lvl9pPr>
              <a:defRPr sz="2175" b="0">
                <a:solidFill>
                  <a:srgbClr val="173A31"/>
                </a:solidFill>
                <a:latin typeface="Arial"/>
                <a:ea typeface="Arial"/>
                <a:cs typeface="Arial"/>
              </a:defRPr>
            </a:lvl9pPr>
          </a:lstStyle>
          <a:p xmlns:a="http://schemas.openxmlformats.org/drawingml/2006/main">
            <a:pPr>
              <a:defRPr sz="2175" b="0">
                <a:solidFill>
                  <a:srgbClr val="173A31"/>
                </a:solidFill>
                <a:latin typeface="Arial"/>
                <a:ea typeface="Arial"/>
                <a:cs typeface="Arial"/>
              </a:defRPr>
            </a:pPr>
            <a:r>
              <a:rPr sz="2175" b="0">
                <a:solidFill>
                  <a:srgbClr val="173A31"/>
                </a:solidFill>
                <a:latin typeface="Arial"/>
                <a:ea typeface="Arial"/>
                <a:cs typeface="Arial"/>
              </a:rPr>
              <a:t>A bank default can affect its equity, loan and swap.</a:t>
            </a:r>
          </a:p>
          <a:p xmlns:a="http://schemas.openxmlformats.org/drawingml/2006/main">
            <a:pPr>
              <a:defRPr sz="2175" b="0">
                <a:solidFill>
                  <a:srgbClr val="173A31"/>
                </a:solidFill>
                <a:latin typeface="Arial"/>
                <a:ea typeface="Arial"/>
                <a:cs typeface="Arial"/>
              </a:defRPr>
            </a:pPr>
            <a:r>
              <a:rPr sz="2175" b="0">
                <a:solidFill>
                  <a:srgbClr val="173A31"/>
                </a:solidFill>
                <a:latin typeface="Arial"/>
                <a:ea typeface="Arial"/>
                <a:cs typeface="Arial"/>
              </a:rPr>
              <a:t>Applying the same issuer shock to an unrelated</a:t>
            </a:r>
          </a:p>
          <a:p xmlns:a="http://schemas.openxmlformats.org/drawingml/2006/main">
            <a:pPr>
              <a:defRPr sz="2175" b="0">
                <a:solidFill>
                  <a:srgbClr val="173A31"/>
                </a:solidFill>
                <a:latin typeface="Arial"/>
                <a:ea typeface="Arial"/>
                <a:cs typeface="Arial"/>
              </a:defRPr>
            </a:pPr>
            <a:r>
              <a:rPr sz="2175" b="0">
                <a:solidFill>
                  <a:srgbClr val="173A31"/>
                </a:solidFill>
                <a:latin typeface="Arial"/>
                <a:ea typeface="Arial"/>
                <a:cs typeface="Arial"/>
              </a:rPr>
              <a:t>technology company distorts the scenario.</a:t>
            </a:r>
          </a:p>
        </p:txBody>
      </p:sp>
      <p:sp>
        <p:nvSpPr>
          <p:cNvPr id="5" name="">
            <a:extLst xmlns:a="http://schemas.openxmlformats.org/drawingml/2006/main">
              <a:ext uri="{FF2B5EF4-FFF2-40B4-BE49-F238E27FC236}">
                <a16:creationId xmlns:a16="http://schemas.microsoft.com/office/drawing/2014/main" id="{B716A163-2C4F-48BE-8212-6D35CDB0B53C}"/>
              </a:ext>
            </a:extLst>
          </p:cNvPr>
          <p:cNvSpPr>
            <a:spLocks xmlns:a="http://schemas.openxmlformats.org/drawingml/2006/main" noGrp="1"/>
          </p:cNvSpPr>
          <p:nvPr/>
        </p:nvSpPr>
        <p:spPr>
          <a:xfrm xmlns:a="http://schemas.openxmlformats.org/drawingml/2006/main">
            <a:off x="8096250" y="2524125"/>
            <a:ext cx="3429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5B4A"/>
                </a:solidFill>
                <a:latin typeface="Arial"/>
                <a:ea typeface="Arial"/>
                <a:cs typeface="Arial"/>
              </a:defRPr>
            </a:defPPr>
            <a:lvl1pPr>
              <a:defRPr sz="2175" b="1">
                <a:solidFill>
                  <a:srgbClr val="285B4A"/>
                </a:solidFill>
                <a:latin typeface="Arial"/>
                <a:ea typeface="Arial"/>
                <a:cs typeface="Arial"/>
              </a:defRPr>
            </a:lvl1pPr>
            <a:lvl2pPr>
              <a:defRPr sz="2175" b="1">
                <a:solidFill>
                  <a:srgbClr val="285B4A"/>
                </a:solidFill>
                <a:latin typeface="Arial"/>
                <a:ea typeface="Arial"/>
                <a:cs typeface="Arial"/>
              </a:defRPr>
            </a:lvl2pPr>
            <a:lvl3pPr>
              <a:defRPr sz="2175" b="1">
                <a:solidFill>
                  <a:srgbClr val="285B4A"/>
                </a:solidFill>
                <a:latin typeface="Arial"/>
                <a:ea typeface="Arial"/>
                <a:cs typeface="Arial"/>
              </a:defRPr>
            </a:lvl3pPr>
            <a:lvl4pPr>
              <a:defRPr sz="2175" b="1">
                <a:solidFill>
                  <a:srgbClr val="285B4A"/>
                </a:solidFill>
                <a:latin typeface="Arial"/>
                <a:ea typeface="Arial"/>
                <a:cs typeface="Arial"/>
              </a:defRPr>
            </a:lvl4pPr>
            <a:lvl5pPr>
              <a:defRPr sz="2175" b="1">
                <a:solidFill>
                  <a:srgbClr val="285B4A"/>
                </a:solidFill>
                <a:latin typeface="Arial"/>
                <a:ea typeface="Arial"/>
                <a:cs typeface="Arial"/>
              </a:defRPr>
            </a:lvl5pPr>
            <a:lvl6pPr>
              <a:defRPr sz="2175" b="1">
                <a:solidFill>
                  <a:srgbClr val="285B4A"/>
                </a:solidFill>
                <a:latin typeface="Arial"/>
                <a:ea typeface="Arial"/>
                <a:cs typeface="Arial"/>
              </a:defRPr>
            </a:lvl6pPr>
            <a:lvl7pPr>
              <a:defRPr sz="2175" b="1">
                <a:solidFill>
                  <a:srgbClr val="285B4A"/>
                </a:solidFill>
                <a:latin typeface="Arial"/>
                <a:ea typeface="Arial"/>
                <a:cs typeface="Arial"/>
              </a:defRPr>
            </a:lvl7pPr>
            <a:lvl8pPr>
              <a:defRPr sz="2175" b="1">
                <a:solidFill>
                  <a:srgbClr val="285B4A"/>
                </a:solidFill>
                <a:latin typeface="Arial"/>
                <a:ea typeface="Arial"/>
                <a:cs typeface="Arial"/>
              </a:defRPr>
            </a:lvl8pPr>
            <a:lvl9pPr>
              <a:defRPr sz="2175" b="1">
                <a:solidFill>
                  <a:srgbClr val="285B4A"/>
                </a:solidFill>
                <a:latin typeface="Arial"/>
                <a:ea typeface="Arial"/>
                <a:cs typeface="Arial"/>
              </a:defRPr>
            </a:lvl9pPr>
          </a:lstStyle>
          <a:p xmlns:a="http://schemas.openxmlformats.org/drawingml/2006/main">
            <a:pPr>
              <a:defRPr sz="2175" b="1">
                <a:solidFill>
                  <a:srgbClr val="285B4A"/>
                </a:solidFill>
                <a:latin typeface="Arial"/>
                <a:ea typeface="Arial"/>
                <a:cs typeface="Arial"/>
              </a:defRPr>
            </a:pPr>
            <a:r>
              <a:rPr sz="2175" b="1">
                <a:solidFill>
                  <a:srgbClr val="285B4A"/>
                </a:solidFill>
                <a:latin typeface="Arial"/>
                <a:ea typeface="Arial"/>
                <a:cs typeface="Arial"/>
              </a:rPr>
              <a:t>Our approach</a:t>
            </a:r>
          </a:p>
        </p:txBody>
      </p:sp>
      <p:sp>
        <p:nvSpPr>
          <p:cNvPr id="6" name="">
            <a:extLst xmlns:a="http://schemas.openxmlformats.org/drawingml/2006/main">
              <a:ext uri="{FF2B5EF4-FFF2-40B4-BE49-F238E27FC236}">
                <a16:creationId xmlns:a16="http://schemas.microsoft.com/office/drawing/2014/main" id="{DB3E1012-8E35-426D-B18E-89F61C73EE22}"/>
              </a:ext>
            </a:extLst>
          </p:cNvPr>
          <p:cNvSpPr>
            <a:spLocks xmlns:a="http://schemas.openxmlformats.org/drawingml/2006/main" noGrp="1"/>
          </p:cNvSpPr>
          <p:nvPr/>
        </p:nvSpPr>
        <p:spPr>
          <a:xfrm xmlns:a="http://schemas.openxmlformats.org/drawingml/2006/main">
            <a:off x="8096250" y="3209925"/>
            <a:ext cx="3429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A31"/>
                </a:solidFill>
                <a:latin typeface="Arial"/>
                <a:ea typeface="Arial"/>
                <a:cs typeface="Arial"/>
              </a:defRPr>
            </a:defPPr>
            <a:lvl1pPr>
              <a:defRPr sz="2025" b="0">
                <a:solidFill>
                  <a:srgbClr val="173A31"/>
                </a:solidFill>
                <a:latin typeface="Arial"/>
                <a:ea typeface="Arial"/>
                <a:cs typeface="Arial"/>
              </a:defRPr>
            </a:lvl1pPr>
            <a:lvl2pPr>
              <a:defRPr sz="2025" b="0">
                <a:solidFill>
                  <a:srgbClr val="173A31"/>
                </a:solidFill>
                <a:latin typeface="Arial"/>
                <a:ea typeface="Arial"/>
                <a:cs typeface="Arial"/>
              </a:defRPr>
            </a:lvl2pPr>
            <a:lvl3pPr>
              <a:defRPr sz="2025" b="0">
                <a:solidFill>
                  <a:srgbClr val="173A31"/>
                </a:solidFill>
                <a:latin typeface="Arial"/>
                <a:ea typeface="Arial"/>
                <a:cs typeface="Arial"/>
              </a:defRPr>
            </a:lvl3pPr>
            <a:lvl4pPr>
              <a:defRPr sz="2025" b="0">
                <a:solidFill>
                  <a:srgbClr val="173A31"/>
                </a:solidFill>
                <a:latin typeface="Arial"/>
                <a:ea typeface="Arial"/>
                <a:cs typeface="Arial"/>
              </a:defRPr>
            </a:lvl4pPr>
            <a:lvl5pPr>
              <a:defRPr sz="2025" b="0">
                <a:solidFill>
                  <a:srgbClr val="173A31"/>
                </a:solidFill>
                <a:latin typeface="Arial"/>
                <a:ea typeface="Arial"/>
                <a:cs typeface="Arial"/>
              </a:defRPr>
            </a:lvl5pPr>
            <a:lvl6pPr>
              <a:defRPr sz="2025" b="0">
                <a:solidFill>
                  <a:srgbClr val="173A31"/>
                </a:solidFill>
                <a:latin typeface="Arial"/>
                <a:ea typeface="Arial"/>
                <a:cs typeface="Arial"/>
              </a:defRPr>
            </a:lvl6pPr>
            <a:lvl7pPr>
              <a:defRPr sz="2025" b="0">
                <a:solidFill>
                  <a:srgbClr val="173A31"/>
                </a:solidFill>
                <a:latin typeface="Arial"/>
                <a:ea typeface="Arial"/>
                <a:cs typeface="Arial"/>
              </a:defRPr>
            </a:lvl7pPr>
            <a:lvl8pPr>
              <a:defRPr sz="2025" b="0">
                <a:solidFill>
                  <a:srgbClr val="173A31"/>
                </a:solidFill>
                <a:latin typeface="Arial"/>
                <a:ea typeface="Arial"/>
                <a:cs typeface="Arial"/>
              </a:defRPr>
            </a:lvl8pPr>
            <a:lvl9pPr>
              <a:defRPr sz="2025" b="0">
                <a:solidFill>
                  <a:srgbClr val="173A31"/>
                </a:solidFill>
                <a:latin typeface="Arial"/>
                <a:ea typeface="Arial"/>
                <a:cs typeface="Arial"/>
              </a:defRPr>
            </a:lvl9pPr>
          </a:lstStyle>
          <a:p xmlns:a="http://schemas.openxmlformats.org/drawingml/2006/main">
            <a:pPr>
              <a:defRPr sz="2025" b="0">
                <a:solidFill>
                  <a:srgbClr val="173A31"/>
                </a:solidFill>
                <a:latin typeface="Arial"/>
                <a:ea typeface="Arial"/>
                <a:cs typeface="Arial"/>
              </a:defRPr>
            </a:pPr>
            <a:r>
              <a:rPr sz="2025" b="0">
                <a:solidFill>
                  <a:srgbClr val="173A31"/>
                </a:solidFill>
                <a:latin typeface="Arial"/>
                <a:ea typeface="Arial"/>
                <a:cs typeface="Arial"/>
              </a:rPr>
              <a:t>Show the matched evidence.</a:t>
            </a:r>
          </a:p>
          <a:p xmlns:a="http://schemas.openxmlformats.org/drawingml/2006/main">
            <a:pPr>
              <a:defRPr sz="2025" b="0">
                <a:solidFill>
                  <a:srgbClr val="173A31"/>
                </a:solidFill>
                <a:latin typeface="Arial"/>
                <a:ea typeface="Arial"/>
                <a:cs typeface="Arial"/>
              </a:defRPr>
            </a:pPr>
            <a:r>
              <a:rPr sz="2025" b="0">
                <a:solidFill>
                  <a:srgbClr val="173A31"/>
                </a:solidFill>
                <a:latin typeface="Arial"/>
                <a:ea typeface="Arial"/>
                <a:cs typeface="Arial"/>
              </a:rPr>
              <a:t>Let the analyst choose scope.</a:t>
            </a:r>
          </a:p>
          <a:p xmlns:a="http://schemas.openxmlformats.org/drawingml/2006/main">
            <a:pPr>
              <a:defRPr sz="2025" b="0">
                <a:solidFill>
                  <a:srgbClr val="173A31"/>
                </a:solidFill>
                <a:latin typeface="Arial"/>
                <a:ea typeface="Arial"/>
                <a:cs typeface="Arial"/>
              </a:defRPr>
            </a:pPr>
            <a:r>
              <a:rPr sz="2025" b="0">
                <a:solidFill>
                  <a:srgbClr val="173A31"/>
                </a:solidFill>
                <a:latin typeface="Arial"/>
                <a:ea typeface="Arial"/>
                <a:cs typeface="Arial"/>
              </a:rPr>
              <a:t>Explain every position’s P&amp;L.</a:t>
            </a:r>
          </a:p>
        </p:txBody>
      </p:sp>
      <p:sp>
        <p:nvSpPr>
          <p:cNvPr id="7" name="">
            <a:extLst xmlns:a="http://schemas.openxmlformats.org/drawingml/2006/main">
              <a:ext uri="{FF2B5EF4-FFF2-40B4-BE49-F238E27FC236}">
                <a16:creationId xmlns:a16="http://schemas.microsoft.com/office/drawing/2014/main" id="{CB73DB0E-3D46-49F0-A2D1-613DB60CB35D}"/>
              </a:ext>
            </a:extLst>
          </p:cNvPr>
          <p:cNvSpPr>
            <a:spLocks xmlns:a="http://schemas.openxmlformats.org/drawingml/2006/main" noGrp="1"/>
          </p:cNvSpPr>
          <p:nvPr/>
        </p:nvSpPr>
        <p:spPr>
          <a:xfrm xmlns:a="http://schemas.openxmlformats.org/drawingml/2006/main">
            <a:off x="609600" y="5191125"/>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75D"/>
                </a:solidFill>
                <a:latin typeface="Arial"/>
                <a:ea typeface="Arial"/>
                <a:cs typeface="Arial"/>
              </a:defRPr>
            </a:defPPr>
            <a:lvl1pPr>
              <a:defRPr sz="1950" b="0">
                <a:solidFill>
                  <a:srgbClr val="53675D"/>
                </a:solidFill>
                <a:latin typeface="Arial"/>
                <a:ea typeface="Arial"/>
                <a:cs typeface="Arial"/>
              </a:defRPr>
            </a:lvl1pPr>
            <a:lvl2pPr>
              <a:defRPr sz="1950" b="0">
                <a:solidFill>
                  <a:srgbClr val="53675D"/>
                </a:solidFill>
                <a:latin typeface="Arial"/>
                <a:ea typeface="Arial"/>
                <a:cs typeface="Arial"/>
              </a:defRPr>
            </a:lvl2pPr>
            <a:lvl3pPr>
              <a:defRPr sz="1950" b="0">
                <a:solidFill>
                  <a:srgbClr val="53675D"/>
                </a:solidFill>
                <a:latin typeface="Arial"/>
                <a:ea typeface="Arial"/>
                <a:cs typeface="Arial"/>
              </a:defRPr>
            </a:lvl3pPr>
            <a:lvl4pPr>
              <a:defRPr sz="1950" b="0">
                <a:solidFill>
                  <a:srgbClr val="53675D"/>
                </a:solidFill>
                <a:latin typeface="Arial"/>
                <a:ea typeface="Arial"/>
                <a:cs typeface="Arial"/>
              </a:defRPr>
            </a:lvl4pPr>
            <a:lvl5pPr>
              <a:defRPr sz="1950" b="0">
                <a:solidFill>
                  <a:srgbClr val="53675D"/>
                </a:solidFill>
                <a:latin typeface="Arial"/>
                <a:ea typeface="Arial"/>
                <a:cs typeface="Arial"/>
              </a:defRPr>
            </a:lvl5pPr>
            <a:lvl6pPr>
              <a:defRPr sz="1950" b="0">
                <a:solidFill>
                  <a:srgbClr val="53675D"/>
                </a:solidFill>
                <a:latin typeface="Arial"/>
                <a:ea typeface="Arial"/>
                <a:cs typeface="Arial"/>
              </a:defRPr>
            </a:lvl6pPr>
            <a:lvl7pPr>
              <a:defRPr sz="1950" b="0">
                <a:solidFill>
                  <a:srgbClr val="53675D"/>
                </a:solidFill>
                <a:latin typeface="Arial"/>
                <a:ea typeface="Arial"/>
                <a:cs typeface="Arial"/>
              </a:defRPr>
            </a:lvl7pPr>
            <a:lvl8pPr>
              <a:defRPr sz="1950" b="0">
                <a:solidFill>
                  <a:srgbClr val="53675D"/>
                </a:solidFill>
                <a:latin typeface="Arial"/>
                <a:ea typeface="Arial"/>
                <a:cs typeface="Arial"/>
              </a:defRPr>
            </a:lvl8pPr>
            <a:lvl9pPr>
              <a:defRPr sz="1950" b="0">
                <a:solidFill>
                  <a:srgbClr val="53675D"/>
                </a:solidFill>
                <a:latin typeface="Arial"/>
                <a:ea typeface="Arial"/>
                <a:cs typeface="Arial"/>
              </a:defRPr>
            </a:lvl9pPr>
          </a:lstStyle>
          <a:p xmlns:a="http://schemas.openxmlformats.org/drawingml/2006/main">
            <a:pPr>
              <a:defRPr sz="1950" b="0">
                <a:solidFill>
                  <a:srgbClr val="53675D"/>
                </a:solidFill>
                <a:latin typeface="Arial"/>
                <a:ea typeface="Arial"/>
                <a:cs typeface="Arial"/>
              </a:defRPr>
            </a:pPr>
            <a:r>
              <a:rPr sz="1950" b="0">
                <a:solidFill>
                  <a:srgbClr val="53675D"/>
                </a:solidFill>
                <a:latin typeface="Arial"/>
                <a:ea typeface="Arial"/>
                <a:cs typeface="Arial"/>
              </a:rPr>
              <a:t>Designed for event triage and reproducible scenario discussion.</a:t>
            </a:r>
          </a:p>
          <a:p xmlns:a="http://schemas.openxmlformats.org/drawingml/2006/main">
            <a:pPr>
              <a:defRPr sz="1950" b="0">
                <a:solidFill>
                  <a:srgbClr val="53675D"/>
                </a:solidFill>
                <a:latin typeface="Arial"/>
                <a:ea typeface="Arial"/>
                <a:cs typeface="Arial"/>
              </a:defRPr>
            </a:pPr>
            <a:r>
              <a:rPr sz="1950" b="0">
                <a:solidFill>
                  <a:srgbClr val="53675D"/>
                </a:solidFill>
                <a:latin typeface="Arial"/>
                <a:ea typeface="Arial"/>
                <a:cs typeface="Arial"/>
              </a:rPr>
              <a:t>The shocks are illustrative assumptions.</a:t>
            </a:r>
          </a:p>
        </p:txBody>
      </p:sp>
    </p:spTree>
    <p:extLst>
      <p:ext uri="{BB962C8B-B14F-4D97-AF65-F5344CB8AC3E}">
        <p14:creationId xmlns:p14="http://schemas.microsoft.com/office/powerpoint/2010/main" val="86772953"/>
      </p:ext>
    </p:extLst>
  </p:cSld>
</p:sld>
</file>

<file path=ppt/slides/slide3.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D98E499-8C0A-4BED-9084-AE4312F85AD8}"/>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A31"/>
                </a:solidFill>
                <a:latin typeface="Arial"/>
                <a:ea typeface="Arial"/>
                <a:cs typeface="Arial"/>
              </a:defRPr>
            </a:defPPr>
            <a:lvl1pPr>
              <a:defRPr sz="3300" b="1">
                <a:solidFill>
                  <a:srgbClr val="173A31"/>
                </a:solidFill>
                <a:latin typeface="Arial"/>
                <a:ea typeface="Arial"/>
                <a:cs typeface="Arial"/>
              </a:defRPr>
            </a:lvl1pPr>
            <a:lvl2pPr>
              <a:defRPr sz="3300" b="1">
                <a:solidFill>
                  <a:srgbClr val="173A31"/>
                </a:solidFill>
                <a:latin typeface="Arial"/>
                <a:ea typeface="Arial"/>
                <a:cs typeface="Arial"/>
              </a:defRPr>
            </a:lvl2pPr>
            <a:lvl3pPr>
              <a:defRPr sz="3300" b="1">
                <a:solidFill>
                  <a:srgbClr val="173A31"/>
                </a:solidFill>
                <a:latin typeface="Arial"/>
                <a:ea typeface="Arial"/>
                <a:cs typeface="Arial"/>
              </a:defRPr>
            </a:lvl3pPr>
            <a:lvl4pPr>
              <a:defRPr sz="3300" b="1">
                <a:solidFill>
                  <a:srgbClr val="173A31"/>
                </a:solidFill>
                <a:latin typeface="Arial"/>
                <a:ea typeface="Arial"/>
                <a:cs typeface="Arial"/>
              </a:defRPr>
            </a:lvl4pPr>
            <a:lvl5pPr>
              <a:defRPr sz="3300" b="1">
                <a:solidFill>
                  <a:srgbClr val="173A31"/>
                </a:solidFill>
                <a:latin typeface="Arial"/>
                <a:ea typeface="Arial"/>
                <a:cs typeface="Arial"/>
              </a:defRPr>
            </a:lvl5pPr>
            <a:lvl6pPr>
              <a:defRPr sz="3300" b="1">
                <a:solidFill>
                  <a:srgbClr val="173A31"/>
                </a:solidFill>
                <a:latin typeface="Arial"/>
                <a:ea typeface="Arial"/>
                <a:cs typeface="Arial"/>
              </a:defRPr>
            </a:lvl6pPr>
            <a:lvl7pPr>
              <a:defRPr sz="3300" b="1">
                <a:solidFill>
                  <a:srgbClr val="173A31"/>
                </a:solidFill>
                <a:latin typeface="Arial"/>
                <a:ea typeface="Arial"/>
                <a:cs typeface="Arial"/>
              </a:defRPr>
            </a:lvl7pPr>
            <a:lvl8pPr>
              <a:defRPr sz="3300" b="1">
                <a:solidFill>
                  <a:srgbClr val="173A31"/>
                </a:solidFill>
                <a:latin typeface="Arial"/>
                <a:ea typeface="Arial"/>
                <a:cs typeface="Arial"/>
              </a:defRPr>
            </a:lvl8pPr>
            <a:lvl9pPr>
              <a:defRPr sz="3300" b="1">
                <a:solidFill>
                  <a:srgbClr val="173A31"/>
                </a:solidFill>
                <a:latin typeface="Arial"/>
                <a:ea typeface="Arial"/>
                <a:cs typeface="Arial"/>
              </a:defRPr>
            </a:lvl9pPr>
          </a:lstStyle>
          <a:p xmlns:a="http://schemas.openxmlformats.org/drawingml/2006/main">
            <a:pPr>
              <a:defRPr sz="3300" b="1">
                <a:solidFill>
                  <a:srgbClr val="173A31"/>
                </a:solidFill>
                <a:latin typeface="Arial"/>
                <a:ea typeface="Arial"/>
                <a:cs typeface="Arial"/>
              </a:defRPr>
            </a:pPr>
            <a:r>
              <a:rPr sz="3300" b="1">
                <a:solidFill>
                  <a:srgbClr val="173A31"/>
                </a:solidFill>
                <a:latin typeface="Arial"/>
                <a:ea typeface="Arial"/>
                <a:cs typeface="Arial"/>
              </a:rPr>
              <a:t>System design and data flow</a:t>
            </a:r>
          </a:p>
        </p:txBody>
      </p:sp>
      <p:sp>
        <p:nvSpPr>
          <p:cNvPr id="2" name="">
            <a:extLst xmlns:a="http://schemas.openxmlformats.org/drawingml/2006/main">
              <a:ext uri="{FF2B5EF4-FFF2-40B4-BE49-F238E27FC236}">
                <a16:creationId xmlns:a16="http://schemas.microsoft.com/office/drawing/2014/main" id="{1B91611C-F406-4EFA-996C-77B064173535}"/>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5D"/>
                </a:solidFill>
                <a:latin typeface="Arial"/>
                <a:ea typeface="Arial"/>
                <a:cs typeface="Arial"/>
              </a:defRPr>
            </a:defPPr>
            <a:lvl1pPr>
              <a:defRPr sz="1275" b="0">
                <a:solidFill>
                  <a:srgbClr val="53675D"/>
                </a:solidFill>
                <a:latin typeface="Arial"/>
                <a:ea typeface="Arial"/>
                <a:cs typeface="Arial"/>
              </a:defRPr>
            </a:lvl1pPr>
            <a:lvl2pPr>
              <a:defRPr sz="1275" b="0">
                <a:solidFill>
                  <a:srgbClr val="53675D"/>
                </a:solidFill>
                <a:latin typeface="Arial"/>
                <a:ea typeface="Arial"/>
                <a:cs typeface="Arial"/>
              </a:defRPr>
            </a:lvl2pPr>
            <a:lvl3pPr>
              <a:defRPr sz="1275" b="0">
                <a:solidFill>
                  <a:srgbClr val="53675D"/>
                </a:solidFill>
                <a:latin typeface="Arial"/>
                <a:ea typeface="Arial"/>
                <a:cs typeface="Arial"/>
              </a:defRPr>
            </a:lvl3pPr>
            <a:lvl4pPr>
              <a:defRPr sz="1275" b="0">
                <a:solidFill>
                  <a:srgbClr val="53675D"/>
                </a:solidFill>
                <a:latin typeface="Arial"/>
                <a:ea typeface="Arial"/>
                <a:cs typeface="Arial"/>
              </a:defRPr>
            </a:lvl4pPr>
            <a:lvl5pPr>
              <a:defRPr sz="1275" b="0">
                <a:solidFill>
                  <a:srgbClr val="53675D"/>
                </a:solidFill>
                <a:latin typeface="Arial"/>
                <a:ea typeface="Arial"/>
                <a:cs typeface="Arial"/>
              </a:defRPr>
            </a:lvl5pPr>
            <a:lvl6pPr>
              <a:defRPr sz="1275" b="0">
                <a:solidFill>
                  <a:srgbClr val="53675D"/>
                </a:solidFill>
                <a:latin typeface="Arial"/>
                <a:ea typeface="Arial"/>
                <a:cs typeface="Arial"/>
              </a:defRPr>
            </a:lvl6pPr>
            <a:lvl7pPr>
              <a:defRPr sz="1275" b="0">
                <a:solidFill>
                  <a:srgbClr val="53675D"/>
                </a:solidFill>
                <a:latin typeface="Arial"/>
                <a:ea typeface="Arial"/>
                <a:cs typeface="Arial"/>
              </a:defRPr>
            </a:lvl7pPr>
            <a:lvl8pPr>
              <a:defRPr sz="1275" b="0">
                <a:solidFill>
                  <a:srgbClr val="53675D"/>
                </a:solidFill>
                <a:latin typeface="Arial"/>
                <a:ea typeface="Arial"/>
                <a:cs typeface="Arial"/>
              </a:defRPr>
            </a:lvl8pPr>
            <a:lvl9pPr>
              <a:defRPr sz="1275" b="0">
                <a:solidFill>
                  <a:srgbClr val="53675D"/>
                </a:solidFill>
                <a:latin typeface="Arial"/>
                <a:ea typeface="Arial"/>
                <a:cs typeface="Arial"/>
              </a:defRPr>
            </a:lvl9pPr>
          </a:lstStyle>
          <a:p xmlns:a="http://schemas.openxmlformats.org/drawingml/2006/main">
            <a:pPr>
              <a:defRPr sz="1275" b="0">
                <a:solidFill>
                  <a:srgbClr val="53675D"/>
                </a:solidFill>
                <a:latin typeface="Arial"/>
                <a:ea typeface="Arial"/>
                <a:cs typeface="Arial"/>
              </a:defRPr>
            </a:pPr>
            <a:r>
              <a:rPr sz="1275" b="0">
                <a:solidFill>
                  <a:srgbClr val="53675D"/>
                </a:solidFill>
                <a:latin typeface="Arial"/>
                <a:ea typeface="Arial"/>
                <a:cs typeface="Arial"/>
              </a:rPr>
              <a:t>3 / 7</a:t>
            </a:r>
          </a:p>
        </p:txBody>
      </p:sp>
      <p:sp>
        <p:nvSpPr>
          <p:cNvPr id="3" name="">
            <a:extLst xmlns:a="http://schemas.openxmlformats.org/drawingml/2006/main">
              <a:ext uri="{FF2B5EF4-FFF2-40B4-BE49-F238E27FC236}">
                <a16:creationId xmlns:a16="http://schemas.microsoft.com/office/drawing/2014/main" id="{8F551FFB-664E-46BA-9700-B8D80570C107}"/>
              </a:ext>
            </a:extLst>
          </p:cNvPr>
          <p:cNvSpPr>
            <a:spLocks xmlns:a="http://schemas.openxmlformats.org/drawingml/2006/main" noGrp="1"/>
          </p:cNvSpPr>
          <p:nvPr/>
        </p:nvSpPr>
        <p:spPr>
          <a:xfrm xmlns:a="http://schemas.openxmlformats.org/drawingml/2006/main">
            <a:off x="609600" y="2190750"/>
            <a:ext cx="2514600" cy="1762125"/>
          </a:xfrm>
          <a:prstGeom xmlns:a="http://schemas.openxmlformats.org/drawingml/2006/main" prst="rect">
            <a:avLst/>
          </a:prstGeom>
          <a:solidFill xmlns:a="http://schemas.openxmlformats.org/drawingml/2006/main">
            <a:srgbClr val="DCE9DF"/>
          </a:solidFill>
          <a:ln xmlns:a="http://schemas.openxmlformats.org/drawingml/2006/main" w="9525">
            <a:solidFill>
              <a:srgbClr val="285B4A"/>
            </a:solidFill>
          </a:ln>
        </p:spPr>
      </p:sp>
      <p:sp>
        <p:nvSpPr>
          <p:cNvPr id="4" name="">
            <a:extLst xmlns:a="http://schemas.openxmlformats.org/drawingml/2006/main">
              <a:ext uri="{FF2B5EF4-FFF2-40B4-BE49-F238E27FC236}">
                <a16:creationId xmlns:a16="http://schemas.microsoft.com/office/drawing/2014/main" id="{741EF6E8-89A7-4FF6-AF37-D502B051250B}"/>
              </a:ext>
            </a:extLst>
          </p:cNvPr>
          <p:cNvSpPr>
            <a:spLocks xmlns:a="http://schemas.openxmlformats.org/drawingml/2006/main" noGrp="1"/>
          </p:cNvSpPr>
          <p:nvPr/>
        </p:nvSpPr>
        <p:spPr>
          <a:xfrm xmlns:a="http://schemas.openxmlformats.org/drawingml/2006/main">
            <a:off x="781050" y="237172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5B4A"/>
                </a:solidFill>
                <a:latin typeface="Arial"/>
                <a:ea typeface="Arial"/>
                <a:cs typeface="Arial"/>
              </a:defRPr>
            </a:defPPr>
            <a:lvl1pPr>
              <a:defRPr sz="1500" b="1">
                <a:solidFill>
                  <a:srgbClr val="285B4A"/>
                </a:solidFill>
                <a:latin typeface="Arial"/>
                <a:ea typeface="Arial"/>
                <a:cs typeface="Arial"/>
              </a:defRPr>
            </a:lvl1pPr>
            <a:lvl2pPr>
              <a:defRPr sz="1500" b="1">
                <a:solidFill>
                  <a:srgbClr val="285B4A"/>
                </a:solidFill>
                <a:latin typeface="Arial"/>
                <a:ea typeface="Arial"/>
                <a:cs typeface="Arial"/>
              </a:defRPr>
            </a:lvl2pPr>
            <a:lvl3pPr>
              <a:defRPr sz="1500" b="1">
                <a:solidFill>
                  <a:srgbClr val="285B4A"/>
                </a:solidFill>
                <a:latin typeface="Arial"/>
                <a:ea typeface="Arial"/>
                <a:cs typeface="Arial"/>
              </a:defRPr>
            </a:lvl3pPr>
            <a:lvl4pPr>
              <a:defRPr sz="1500" b="1">
                <a:solidFill>
                  <a:srgbClr val="285B4A"/>
                </a:solidFill>
                <a:latin typeface="Arial"/>
                <a:ea typeface="Arial"/>
                <a:cs typeface="Arial"/>
              </a:defRPr>
            </a:lvl4pPr>
            <a:lvl5pPr>
              <a:defRPr sz="1500" b="1">
                <a:solidFill>
                  <a:srgbClr val="285B4A"/>
                </a:solidFill>
                <a:latin typeface="Arial"/>
                <a:ea typeface="Arial"/>
                <a:cs typeface="Arial"/>
              </a:defRPr>
            </a:lvl5pPr>
            <a:lvl6pPr>
              <a:defRPr sz="1500" b="1">
                <a:solidFill>
                  <a:srgbClr val="285B4A"/>
                </a:solidFill>
                <a:latin typeface="Arial"/>
                <a:ea typeface="Arial"/>
                <a:cs typeface="Arial"/>
              </a:defRPr>
            </a:lvl6pPr>
            <a:lvl7pPr>
              <a:defRPr sz="1500" b="1">
                <a:solidFill>
                  <a:srgbClr val="285B4A"/>
                </a:solidFill>
                <a:latin typeface="Arial"/>
                <a:ea typeface="Arial"/>
                <a:cs typeface="Arial"/>
              </a:defRPr>
            </a:lvl7pPr>
            <a:lvl8pPr>
              <a:defRPr sz="1500" b="1">
                <a:solidFill>
                  <a:srgbClr val="285B4A"/>
                </a:solidFill>
                <a:latin typeface="Arial"/>
                <a:ea typeface="Arial"/>
                <a:cs typeface="Arial"/>
              </a:defRPr>
            </a:lvl8pPr>
            <a:lvl9pPr>
              <a:defRPr sz="1500" b="1">
                <a:solidFill>
                  <a:srgbClr val="285B4A"/>
                </a:solidFill>
                <a:latin typeface="Arial"/>
                <a:ea typeface="Arial"/>
                <a:cs typeface="Arial"/>
              </a:defRPr>
            </a:lvl9pPr>
          </a:lstStyle>
          <a:p xmlns:a="http://schemas.openxmlformats.org/drawingml/2006/main">
            <a:pPr>
              <a:defRPr sz="1500" b="1">
                <a:solidFill>
                  <a:srgbClr val="285B4A"/>
                </a:solidFill>
                <a:latin typeface="Arial"/>
                <a:ea typeface="Arial"/>
                <a:cs typeface="Arial"/>
              </a:defRPr>
            </a:pPr>
            <a:r>
              <a:rPr sz="1500" b="1">
                <a:solidFill>
                  <a:srgbClr val="285B4A"/>
                </a:solidFill>
                <a:latin typeface="Arial"/>
                <a:ea typeface="Arial"/>
                <a:cs typeface="Arial"/>
              </a:rPr>
              <a:t>INPUT</a:t>
            </a:r>
          </a:p>
        </p:txBody>
      </p:sp>
      <p:sp>
        <p:nvSpPr>
          <p:cNvPr id="5" name="">
            <a:extLst xmlns:a="http://schemas.openxmlformats.org/drawingml/2006/main">
              <a:ext uri="{FF2B5EF4-FFF2-40B4-BE49-F238E27FC236}">
                <a16:creationId xmlns:a16="http://schemas.microsoft.com/office/drawing/2014/main" id="{95D81D41-EFA4-46D8-985E-B9BE278E78C5}"/>
              </a:ext>
            </a:extLst>
          </p:cNvPr>
          <p:cNvSpPr>
            <a:spLocks xmlns:a="http://schemas.openxmlformats.org/drawingml/2006/main" noGrp="1"/>
          </p:cNvSpPr>
          <p:nvPr/>
        </p:nvSpPr>
        <p:spPr>
          <a:xfrm xmlns:a="http://schemas.openxmlformats.org/drawingml/2006/main">
            <a:off x="781050" y="292417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A31"/>
                </a:solidFill>
                <a:latin typeface="Arial"/>
                <a:ea typeface="Arial"/>
                <a:cs typeface="Arial"/>
              </a:defRPr>
            </a:defPPr>
            <a:lvl1pPr>
              <a:defRPr sz="1875" b="0">
                <a:solidFill>
                  <a:srgbClr val="173A31"/>
                </a:solidFill>
                <a:latin typeface="Arial"/>
                <a:ea typeface="Arial"/>
                <a:cs typeface="Arial"/>
              </a:defRPr>
            </a:lvl1pPr>
            <a:lvl2pPr>
              <a:defRPr sz="1875" b="0">
                <a:solidFill>
                  <a:srgbClr val="173A31"/>
                </a:solidFill>
                <a:latin typeface="Arial"/>
                <a:ea typeface="Arial"/>
                <a:cs typeface="Arial"/>
              </a:defRPr>
            </a:lvl2pPr>
            <a:lvl3pPr>
              <a:defRPr sz="1875" b="0">
                <a:solidFill>
                  <a:srgbClr val="173A31"/>
                </a:solidFill>
                <a:latin typeface="Arial"/>
                <a:ea typeface="Arial"/>
                <a:cs typeface="Arial"/>
              </a:defRPr>
            </a:lvl3pPr>
            <a:lvl4pPr>
              <a:defRPr sz="1875" b="0">
                <a:solidFill>
                  <a:srgbClr val="173A31"/>
                </a:solidFill>
                <a:latin typeface="Arial"/>
                <a:ea typeface="Arial"/>
                <a:cs typeface="Arial"/>
              </a:defRPr>
            </a:lvl4pPr>
            <a:lvl5pPr>
              <a:defRPr sz="1875" b="0">
                <a:solidFill>
                  <a:srgbClr val="173A31"/>
                </a:solidFill>
                <a:latin typeface="Arial"/>
                <a:ea typeface="Arial"/>
                <a:cs typeface="Arial"/>
              </a:defRPr>
            </a:lvl5pPr>
            <a:lvl6pPr>
              <a:defRPr sz="1875" b="0">
                <a:solidFill>
                  <a:srgbClr val="173A31"/>
                </a:solidFill>
                <a:latin typeface="Arial"/>
                <a:ea typeface="Arial"/>
                <a:cs typeface="Arial"/>
              </a:defRPr>
            </a:lvl6pPr>
            <a:lvl7pPr>
              <a:defRPr sz="1875" b="0">
                <a:solidFill>
                  <a:srgbClr val="173A31"/>
                </a:solidFill>
                <a:latin typeface="Arial"/>
                <a:ea typeface="Arial"/>
                <a:cs typeface="Arial"/>
              </a:defRPr>
            </a:lvl7pPr>
            <a:lvl8pPr>
              <a:defRPr sz="1875" b="0">
                <a:solidFill>
                  <a:srgbClr val="173A31"/>
                </a:solidFill>
                <a:latin typeface="Arial"/>
                <a:ea typeface="Arial"/>
                <a:cs typeface="Arial"/>
              </a:defRPr>
            </a:lvl8pPr>
            <a:lvl9pPr>
              <a:defRPr sz="1875" b="0">
                <a:solidFill>
                  <a:srgbClr val="173A31"/>
                </a:solidFill>
                <a:latin typeface="Arial"/>
                <a:ea typeface="Arial"/>
                <a:cs typeface="Arial"/>
              </a:defRPr>
            </a:lvl9pPr>
          </a:lstStyle>
          <a:p xmlns:a="http://schemas.openxmlformats.org/drawingml/2006/main">
            <a:pPr>
              <a:defRPr sz="1875" b="0">
                <a:solidFill>
                  <a:srgbClr val="173A31"/>
                </a:solidFill>
                <a:latin typeface="Arial"/>
                <a:ea typeface="Arial"/>
                <a:cs typeface="Arial"/>
              </a:defRPr>
            </a:pPr>
            <a:r>
              <a:rPr sz="1875" b="0">
                <a:solidFill>
                  <a:srgbClr val="173A31"/>
                </a:solidFill>
                <a:latin typeface="Arial"/>
                <a:ea typeface="Arial"/>
                <a:cs typeface="Arial"/>
              </a:rPr>
              <a:t>Synthetic text</a:t>
            </a:r>
          </a:p>
          <a:p xmlns:a="http://schemas.openxmlformats.org/drawingml/2006/main">
            <a:pPr>
              <a:defRPr sz="1875" b="0">
                <a:solidFill>
                  <a:srgbClr val="173A31"/>
                </a:solidFill>
                <a:latin typeface="Arial"/>
                <a:ea typeface="Arial"/>
                <a:cs typeface="Arial"/>
              </a:defRPr>
            </a:pPr>
            <a:r>
              <a:rPr sz="1875" b="0">
                <a:solidFill>
                  <a:srgbClr val="173A31"/>
                </a:solidFill>
                <a:latin typeface="Arial"/>
                <a:ea typeface="Arial"/>
                <a:cs typeface="Arial"/>
              </a:rPr>
              <a:t>Portfolio CSV</a:t>
            </a:r>
          </a:p>
        </p:txBody>
      </p:sp>
      <p:sp>
        <p:nvSpPr>
          <p:cNvPr id="6" name="">
            <a:extLst xmlns:a="http://schemas.openxmlformats.org/drawingml/2006/main">
              <a:ext uri="{FF2B5EF4-FFF2-40B4-BE49-F238E27FC236}">
                <a16:creationId xmlns:a16="http://schemas.microsoft.com/office/drawing/2014/main" id="{A3A59B3E-7CEF-450E-AFBF-4F02E173081D}"/>
              </a:ext>
            </a:extLst>
          </p:cNvPr>
          <p:cNvSpPr>
            <a:spLocks xmlns:a="http://schemas.openxmlformats.org/drawingml/2006/main" noGrp="1"/>
          </p:cNvSpPr>
          <p:nvPr/>
        </p:nvSpPr>
        <p:spPr>
          <a:xfrm xmlns:a="http://schemas.openxmlformats.org/drawingml/2006/main">
            <a:off x="3181350" y="2857500"/>
            <a:ext cx="28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85B4A"/>
                </a:solidFill>
                <a:latin typeface="Arial"/>
                <a:ea typeface="Arial"/>
                <a:cs typeface="Arial"/>
              </a:defRPr>
            </a:defPPr>
            <a:lvl1pPr>
              <a:defRPr sz="2250" b="0">
                <a:solidFill>
                  <a:srgbClr val="285B4A"/>
                </a:solidFill>
                <a:latin typeface="Arial"/>
                <a:ea typeface="Arial"/>
                <a:cs typeface="Arial"/>
              </a:defRPr>
            </a:lvl1pPr>
            <a:lvl2pPr>
              <a:defRPr sz="2250" b="0">
                <a:solidFill>
                  <a:srgbClr val="285B4A"/>
                </a:solidFill>
                <a:latin typeface="Arial"/>
                <a:ea typeface="Arial"/>
                <a:cs typeface="Arial"/>
              </a:defRPr>
            </a:lvl2pPr>
            <a:lvl3pPr>
              <a:defRPr sz="2250" b="0">
                <a:solidFill>
                  <a:srgbClr val="285B4A"/>
                </a:solidFill>
                <a:latin typeface="Arial"/>
                <a:ea typeface="Arial"/>
                <a:cs typeface="Arial"/>
              </a:defRPr>
            </a:lvl3pPr>
            <a:lvl4pPr>
              <a:defRPr sz="2250" b="0">
                <a:solidFill>
                  <a:srgbClr val="285B4A"/>
                </a:solidFill>
                <a:latin typeface="Arial"/>
                <a:ea typeface="Arial"/>
                <a:cs typeface="Arial"/>
              </a:defRPr>
            </a:lvl4pPr>
            <a:lvl5pPr>
              <a:defRPr sz="2250" b="0">
                <a:solidFill>
                  <a:srgbClr val="285B4A"/>
                </a:solidFill>
                <a:latin typeface="Arial"/>
                <a:ea typeface="Arial"/>
                <a:cs typeface="Arial"/>
              </a:defRPr>
            </a:lvl5pPr>
            <a:lvl6pPr>
              <a:defRPr sz="2250" b="0">
                <a:solidFill>
                  <a:srgbClr val="285B4A"/>
                </a:solidFill>
                <a:latin typeface="Arial"/>
                <a:ea typeface="Arial"/>
                <a:cs typeface="Arial"/>
              </a:defRPr>
            </a:lvl6pPr>
            <a:lvl7pPr>
              <a:defRPr sz="2250" b="0">
                <a:solidFill>
                  <a:srgbClr val="285B4A"/>
                </a:solidFill>
                <a:latin typeface="Arial"/>
                <a:ea typeface="Arial"/>
                <a:cs typeface="Arial"/>
              </a:defRPr>
            </a:lvl7pPr>
            <a:lvl8pPr>
              <a:defRPr sz="2250" b="0">
                <a:solidFill>
                  <a:srgbClr val="285B4A"/>
                </a:solidFill>
                <a:latin typeface="Arial"/>
                <a:ea typeface="Arial"/>
                <a:cs typeface="Arial"/>
              </a:defRPr>
            </a:lvl8pPr>
            <a:lvl9pPr>
              <a:defRPr sz="2250" b="0">
                <a:solidFill>
                  <a:srgbClr val="285B4A"/>
                </a:solidFill>
                <a:latin typeface="Arial"/>
                <a:ea typeface="Arial"/>
                <a:cs typeface="Arial"/>
              </a:defRPr>
            </a:lvl9pPr>
          </a:lstStyle>
          <a:p xmlns:a="http://schemas.openxmlformats.org/drawingml/2006/main">
            <a:pPr>
              <a:defRPr sz="2250" b="0">
                <a:solidFill>
                  <a:srgbClr val="285B4A"/>
                </a:solidFill>
                <a:latin typeface="Arial"/>
                <a:ea typeface="Arial"/>
                <a:cs typeface="Arial"/>
              </a:defRPr>
            </a:pPr>
            <a:r>
              <a:rPr sz="2250" b="0">
                <a:solidFill>
                  <a:srgbClr val="285B4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7C1A1841-B59A-4DBD-9B7D-61ED3AFB1B36}"/>
              </a:ext>
            </a:extLst>
          </p:cNvPr>
          <p:cNvSpPr>
            <a:spLocks xmlns:a="http://schemas.openxmlformats.org/drawingml/2006/main" noGrp="1"/>
          </p:cNvSpPr>
          <p:nvPr/>
        </p:nvSpPr>
        <p:spPr>
          <a:xfrm xmlns:a="http://schemas.openxmlformats.org/drawingml/2006/main">
            <a:off x="3429000" y="2190750"/>
            <a:ext cx="2514600" cy="1762125"/>
          </a:xfrm>
          <a:prstGeom xmlns:a="http://schemas.openxmlformats.org/drawingml/2006/main" prst="rect">
            <a:avLst/>
          </a:prstGeom>
          <a:solidFill xmlns:a="http://schemas.openxmlformats.org/drawingml/2006/main">
            <a:srgbClr val="DCE9DF"/>
          </a:solidFill>
          <a:ln xmlns:a="http://schemas.openxmlformats.org/drawingml/2006/main" w="9525">
            <a:solidFill>
              <a:srgbClr val="285B4A"/>
            </a:solidFill>
          </a:ln>
        </p:spPr>
      </p:sp>
      <p:sp>
        <p:nvSpPr>
          <p:cNvPr id="8" name="">
            <a:extLst xmlns:a="http://schemas.openxmlformats.org/drawingml/2006/main">
              <a:ext uri="{FF2B5EF4-FFF2-40B4-BE49-F238E27FC236}">
                <a16:creationId xmlns:a16="http://schemas.microsoft.com/office/drawing/2014/main" id="{D1645A7A-174C-4774-8DED-8F7533748D8C}"/>
              </a:ext>
            </a:extLst>
          </p:cNvPr>
          <p:cNvSpPr>
            <a:spLocks xmlns:a="http://schemas.openxmlformats.org/drawingml/2006/main" noGrp="1"/>
          </p:cNvSpPr>
          <p:nvPr/>
        </p:nvSpPr>
        <p:spPr>
          <a:xfrm xmlns:a="http://schemas.openxmlformats.org/drawingml/2006/main">
            <a:off x="3600450" y="237172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5B4A"/>
                </a:solidFill>
                <a:latin typeface="Arial"/>
                <a:ea typeface="Arial"/>
                <a:cs typeface="Arial"/>
              </a:defRPr>
            </a:defPPr>
            <a:lvl1pPr>
              <a:defRPr sz="1500" b="1">
                <a:solidFill>
                  <a:srgbClr val="285B4A"/>
                </a:solidFill>
                <a:latin typeface="Arial"/>
                <a:ea typeface="Arial"/>
                <a:cs typeface="Arial"/>
              </a:defRPr>
            </a:lvl1pPr>
            <a:lvl2pPr>
              <a:defRPr sz="1500" b="1">
                <a:solidFill>
                  <a:srgbClr val="285B4A"/>
                </a:solidFill>
                <a:latin typeface="Arial"/>
                <a:ea typeface="Arial"/>
                <a:cs typeface="Arial"/>
              </a:defRPr>
            </a:lvl2pPr>
            <a:lvl3pPr>
              <a:defRPr sz="1500" b="1">
                <a:solidFill>
                  <a:srgbClr val="285B4A"/>
                </a:solidFill>
                <a:latin typeface="Arial"/>
                <a:ea typeface="Arial"/>
                <a:cs typeface="Arial"/>
              </a:defRPr>
            </a:lvl3pPr>
            <a:lvl4pPr>
              <a:defRPr sz="1500" b="1">
                <a:solidFill>
                  <a:srgbClr val="285B4A"/>
                </a:solidFill>
                <a:latin typeface="Arial"/>
                <a:ea typeface="Arial"/>
                <a:cs typeface="Arial"/>
              </a:defRPr>
            </a:lvl4pPr>
            <a:lvl5pPr>
              <a:defRPr sz="1500" b="1">
                <a:solidFill>
                  <a:srgbClr val="285B4A"/>
                </a:solidFill>
                <a:latin typeface="Arial"/>
                <a:ea typeface="Arial"/>
                <a:cs typeface="Arial"/>
              </a:defRPr>
            </a:lvl5pPr>
            <a:lvl6pPr>
              <a:defRPr sz="1500" b="1">
                <a:solidFill>
                  <a:srgbClr val="285B4A"/>
                </a:solidFill>
                <a:latin typeface="Arial"/>
                <a:ea typeface="Arial"/>
                <a:cs typeface="Arial"/>
              </a:defRPr>
            </a:lvl6pPr>
            <a:lvl7pPr>
              <a:defRPr sz="1500" b="1">
                <a:solidFill>
                  <a:srgbClr val="285B4A"/>
                </a:solidFill>
                <a:latin typeface="Arial"/>
                <a:ea typeface="Arial"/>
                <a:cs typeface="Arial"/>
              </a:defRPr>
            </a:lvl7pPr>
            <a:lvl8pPr>
              <a:defRPr sz="1500" b="1">
                <a:solidFill>
                  <a:srgbClr val="285B4A"/>
                </a:solidFill>
                <a:latin typeface="Arial"/>
                <a:ea typeface="Arial"/>
                <a:cs typeface="Arial"/>
              </a:defRPr>
            </a:lvl8pPr>
            <a:lvl9pPr>
              <a:defRPr sz="1500" b="1">
                <a:solidFill>
                  <a:srgbClr val="285B4A"/>
                </a:solidFill>
                <a:latin typeface="Arial"/>
                <a:ea typeface="Arial"/>
                <a:cs typeface="Arial"/>
              </a:defRPr>
            </a:lvl9pPr>
          </a:lstStyle>
          <a:p xmlns:a="http://schemas.openxmlformats.org/drawingml/2006/main">
            <a:pPr>
              <a:defRPr sz="1500" b="1">
                <a:solidFill>
                  <a:srgbClr val="285B4A"/>
                </a:solidFill>
                <a:latin typeface="Arial"/>
                <a:ea typeface="Arial"/>
                <a:cs typeface="Arial"/>
              </a:defRPr>
            </a:pPr>
            <a:r>
              <a:rPr sz="1500" b="1">
                <a:solidFill>
                  <a:srgbClr val="285B4A"/>
                </a:solidFill>
                <a:latin typeface="Arial"/>
                <a:ea typeface="Arial"/>
                <a:cs typeface="Arial"/>
              </a:rPr>
              <a:t>RULE ENGINE</a:t>
            </a:r>
          </a:p>
        </p:txBody>
      </p:sp>
      <p:sp>
        <p:nvSpPr>
          <p:cNvPr id="9" name="">
            <a:extLst xmlns:a="http://schemas.openxmlformats.org/drawingml/2006/main">
              <a:ext uri="{FF2B5EF4-FFF2-40B4-BE49-F238E27FC236}">
                <a16:creationId xmlns:a16="http://schemas.microsoft.com/office/drawing/2014/main" id="{BD5EFDDF-EA57-4A8E-96E2-ED488ECEF711}"/>
              </a:ext>
            </a:extLst>
          </p:cNvPr>
          <p:cNvSpPr>
            <a:spLocks xmlns:a="http://schemas.openxmlformats.org/drawingml/2006/main" noGrp="1"/>
          </p:cNvSpPr>
          <p:nvPr/>
        </p:nvSpPr>
        <p:spPr>
          <a:xfrm xmlns:a="http://schemas.openxmlformats.org/drawingml/2006/main">
            <a:off x="3600450" y="292417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A31"/>
                </a:solidFill>
                <a:latin typeface="Arial"/>
                <a:ea typeface="Arial"/>
                <a:cs typeface="Arial"/>
              </a:defRPr>
            </a:defPPr>
            <a:lvl1pPr>
              <a:defRPr sz="1875" b="0">
                <a:solidFill>
                  <a:srgbClr val="173A31"/>
                </a:solidFill>
                <a:latin typeface="Arial"/>
                <a:ea typeface="Arial"/>
                <a:cs typeface="Arial"/>
              </a:defRPr>
            </a:lvl1pPr>
            <a:lvl2pPr>
              <a:defRPr sz="1875" b="0">
                <a:solidFill>
                  <a:srgbClr val="173A31"/>
                </a:solidFill>
                <a:latin typeface="Arial"/>
                <a:ea typeface="Arial"/>
                <a:cs typeface="Arial"/>
              </a:defRPr>
            </a:lvl2pPr>
            <a:lvl3pPr>
              <a:defRPr sz="1875" b="0">
                <a:solidFill>
                  <a:srgbClr val="173A31"/>
                </a:solidFill>
                <a:latin typeface="Arial"/>
                <a:ea typeface="Arial"/>
                <a:cs typeface="Arial"/>
              </a:defRPr>
            </a:lvl3pPr>
            <a:lvl4pPr>
              <a:defRPr sz="1875" b="0">
                <a:solidFill>
                  <a:srgbClr val="173A31"/>
                </a:solidFill>
                <a:latin typeface="Arial"/>
                <a:ea typeface="Arial"/>
                <a:cs typeface="Arial"/>
              </a:defRPr>
            </a:lvl4pPr>
            <a:lvl5pPr>
              <a:defRPr sz="1875" b="0">
                <a:solidFill>
                  <a:srgbClr val="173A31"/>
                </a:solidFill>
                <a:latin typeface="Arial"/>
                <a:ea typeface="Arial"/>
                <a:cs typeface="Arial"/>
              </a:defRPr>
            </a:lvl5pPr>
            <a:lvl6pPr>
              <a:defRPr sz="1875" b="0">
                <a:solidFill>
                  <a:srgbClr val="173A31"/>
                </a:solidFill>
                <a:latin typeface="Arial"/>
                <a:ea typeface="Arial"/>
                <a:cs typeface="Arial"/>
              </a:defRPr>
            </a:lvl6pPr>
            <a:lvl7pPr>
              <a:defRPr sz="1875" b="0">
                <a:solidFill>
                  <a:srgbClr val="173A31"/>
                </a:solidFill>
                <a:latin typeface="Arial"/>
                <a:ea typeface="Arial"/>
                <a:cs typeface="Arial"/>
              </a:defRPr>
            </a:lvl7pPr>
            <a:lvl8pPr>
              <a:defRPr sz="1875" b="0">
                <a:solidFill>
                  <a:srgbClr val="173A31"/>
                </a:solidFill>
                <a:latin typeface="Arial"/>
                <a:ea typeface="Arial"/>
                <a:cs typeface="Arial"/>
              </a:defRPr>
            </a:lvl8pPr>
            <a:lvl9pPr>
              <a:defRPr sz="1875" b="0">
                <a:solidFill>
                  <a:srgbClr val="173A31"/>
                </a:solidFill>
                <a:latin typeface="Arial"/>
                <a:ea typeface="Arial"/>
                <a:cs typeface="Arial"/>
              </a:defRPr>
            </a:lvl9pPr>
          </a:lstStyle>
          <a:p xmlns:a="http://schemas.openxmlformats.org/drawingml/2006/main">
            <a:pPr>
              <a:defRPr sz="1875" b="0">
                <a:solidFill>
                  <a:srgbClr val="173A31"/>
                </a:solidFill>
                <a:latin typeface="Arial"/>
                <a:ea typeface="Arial"/>
                <a:cs typeface="Arial"/>
              </a:defRPr>
            </a:pPr>
            <a:r>
              <a:rPr sz="1875" b="0">
                <a:solidFill>
                  <a:srgbClr val="173A31"/>
                </a:solidFill>
                <a:latin typeface="Arial"/>
                <a:ea typeface="Arial"/>
                <a:cs typeface="Arial"/>
              </a:rPr>
              <a:t>Sentiment counts</a:t>
            </a:r>
          </a:p>
          <a:p xmlns:a="http://schemas.openxmlformats.org/drawingml/2006/main">
            <a:pPr>
              <a:defRPr sz="1875" b="0">
                <a:solidFill>
                  <a:srgbClr val="173A31"/>
                </a:solidFill>
                <a:latin typeface="Arial"/>
                <a:ea typeface="Arial"/>
                <a:cs typeface="Arial"/>
              </a:defRPr>
            </a:pPr>
            <a:r>
              <a:rPr sz="1875" b="0">
                <a:solidFill>
                  <a:srgbClr val="173A31"/>
                </a:solidFill>
                <a:latin typeface="Arial"/>
                <a:ea typeface="Arial"/>
                <a:cs typeface="Arial"/>
              </a:rPr>
              <a:t>Event evidence</a:t>
            </a:r>
          </a:p>
        </p:txBody>
      </p:sp>
      <p:sp>
        <p:nvSpPr>
          <p:cNvPr id="10" name="">
            <a:extLst xmlns:a="http://schemas.openxmlformats.org/drawingml/2006/main">
              <a:ext uri="{FF2B5EF4-FFF2-40B4-BE49-F238E27FC236}">
                <a16:creationId xmlns:a16="http://schemas.microsoft.com/office/drawing/2014/main" id="{CEC31F44-D7D0-4446-A07C-B3B78267FD06}"/>
              </a:ext>
            </a:extLst>
          </p:cNvPr>
          <p:cNvSpPr>
            <a:spLocks xmlns:a="http://schemas.openxmlformats.org/drawingml/2006/main" noGrp="1"/>
          </p:cNvSpPr>
          <p:nvPr/>
        </p:nvSpPr>
        <p:spPr>
          <a:xfrm xmlns:a="http://schemas.openxmlformats.org/drawingml/2006/main">
            <a:off x="6000750" y="2857500"/>
            <a:ext cx="28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85B4A"/>
                </a:solidFill>
                <a:latin typeface="Arial"/>
                <a:ea typeface="Arial"/>
                <a:cs typeface="Arial"/>
              </a:defRPr>
            </a:defPPr>
            <a:lvl1pPr>
              <a:defRPr sz="2250" b="0">
                <a:solidFill>
                  <a:srgbClr val="285B4A"/>
                </a:solidFill>
                <a:latin typeface="Arial"/>
                <a:ea typeface="Arial"/>
                <a:cs typeface="Arial"/>
              </a:defRPr>
            </a:lvl1pPr>
            <a:lvl2pPr>
              <a:defRPr sz="2250" b="0">
                <a:solidFill>
                  <a:srgbClr val="285B4A"/>
                </a:solidFill>
                <a:latin typeface="Arial"/>
                <a:ea typeface="Arial"/>
                <a:cs typeface="Arial"/>
              </a:defRPr>
            </a:lvl2pPr>
            <a:lvl3pPr>
              <a:defRPr sz="2250" b="0">
                <a:solidFill>
                  <a:srgbClr val="285B4A"/>
                </a:solidFill>
                <a:latin typeface="Arial"/>
                <a:ea typeface="Arial"/>
                <a:cs typeface="Arial"/>
              </a:defRPr>
            </a:lvl3pPr>
            <a:lvl4pPr>
              <a:defRPr sz="2250" b="0">
                <a:solidFill>
                  <a:srgbClr val="285B4A"/>
                </a:solidFill>
                <a:latin typeface="Arial"/>
                <a:ea typeface="Arial"/>
                <a:cs typeface="Arial"/>
              </a:defRPr>
            </a:lvl4pPr>
            <a:lvl5pPr>
              <a:defRPr sz="2250" b="0">
                <a:solidFill>
                  <a:srgbClr val="285B4A"/>
                </a:solidFill>
                <a:latin typeface="Arial"/>
                <a:ea typeface="Arial"/>
                <a:cs typeface="Arial"/>
              </a:defRPr>
            </a:lvl5pPr>
            <a:lvl6pPr>
              <a:defRPr sz="2250" b="0">
                <a:solidFill>
                  <a:srgbClr val="285B4A"/>
                </a:solidFill>
                <a:latin typeface="Arial"/>
                <a:ea typeface="Arial"/>
                <a:cs typeface="Arial"/>
              </a:defRPr>
            </a:lvl6pPr>
            <a:lvl7pPr>
              <a:defRPr sz="2250" b="0">
                <a:solidFill>
                  <a:srgbClr val="285B4A"/>
                </a:solidFill>
                <a:latin typeface="Arial"/>
                <a:ea typeface="Arial"/>
                <a:cs typeface="Arial"/>
              </a:defRPr>
            </a:lvl7pPr>
            <a:lvl8pPr>
              <a:defRPr sz="2250" b="0">
                <a:solidFill>
                  <a:srgbClr val="285B4A"/>
                </a:solidFill>
                <a:latin typeface="Arial"/>
                <a:ea typeface="Arial"/>
                <a:cs typeface="Arial"/>
              </a:defRPr>
            </a:lvl8pPr>
            <a:lvl9pPr>
              <a:defRPr sz="2250" b="0">
                <a:solidFill>
                  <a:srgbClr val="285B4A"/>
                </a:solidFill>
                <a:latin typeface="Arial"/>
                <a:ea typeface="Arial"/>
                <a:cs typeface="Arial"/>
              </a:defRPr>
            </a:lvl9pPr>
          </a:lstStyle>
          <a:p xmlns:a="http://schemas.openxmlformats.org/drawingml/2006/main">
            <a:pPr>
              <a:defRPr sz="2250" b="0">
                <a:solidFill>
                  <a:srgbClr val="285B4A"/>
                </a:solidFill>
                <a:latin typeface="Arial"/>
                <a:ea typeface="Arial"/>
                <a:cs typeface="Arial"/>
              </a:defRPr>
            </a:pPr>
            <a:r>
              <a:rPr sz="2250" b="0">
                <a:solidFill>
                  <a:srgbClr val="285B4A"/>
                </a:solidFill>
                <a:latin typeface="Arial"/>
                <a:ea typeface="Arial"/>
                <a:cs typeface="Arial"/>
              </a:rPr>
              <a:t>→</a:t>
            </a:r>
          </a:p>
        </p:txBody>
      </p:sp>
      <p:sp>
        <p:nvSpPr>
          <p:cNvPr id="11" name="">
            <a:extLst xmlns:a="http://schemas.openxmlformats.org/drawingml/2006/main">
              <a:ext uri="{FF2B5EF4-FFF2-40B4-BE49-F238E27FC236}">
                <a16:creationId xmlns:a16="http://schemas.microsoft.com/office/drawing/2014/main" id="{F2111320-0F65-4C82-A9A1-9BC8A90A5BD2}"/>
              </a:ext>
            </a:extLst>
          </p:cNvPr>
          <p:cNvSpPr>
            <a:spLocks xmlns:a="http://schemas.openxmlformats.org/drawingml/2006/main" noGrp="1"/>
          </p:cNvSpPr>
          <p:nvPr/>
        </p:nvSpPr>
        <p:spPr>
          <a:xfrm xmlns:a="http://schemas.openxmlformats.org/drawingml/2006/main">
            <a:off x="6248400" y="2190750"/>
            <a:ext cx="2514600" cy="1762125"/>
          </a:xfrm>
          <a:prstGeom xmlns:a="http://schemas.openxmlformats.org/drawingml/2006/main" prst="rect">
            <a:avLst/>
          </a:prstGeom>
          <a:solidFill xmlns:a="http://schemas.openxmlformats.org/drawingml/2006/main">
            <a:srgbClr val="DCE9DF"/>
          </a:solidFill>
          <a:ln xmlns:a="http://schemas.openxmlformats.org/drawingml/2006/main" w="9525">
            <a:solidFill>
              <a:srgbClr val="285B4A"/>
            </a:solidFill>
          </a:ln>
        </p:spPr>
      </p:sp>
      <p:sp>
        <p:nvSpPr>
          <p:cNvPr id="12" name="">
            <a:extLst xmlns:a="http://schemas.openxmlformats.org/drawingml/2006/main">
              <a:ext uri="{FF2B5EF4-FFF2-40B4-BE49-F238E27FC236}">
                <a16:creationId xmlns:a16="http://schemas.microsoft.com/office/drawing/2014/main" id="{5D8D4FE5-141F-4BEA-A1DC-689312E8504B}"/>
              </a:ext>
            </a:extLst>
          </p:cNvPr>
          <p:cNvSpPr>
            <a:spLocks xmlns:a="http://schemas.openxmlformats.org/drawingml/2006/main" noGrp="1"/>
          </p:cNvSpPr>
          <p:nvPr/>
        </p:nvSpPr>
        <p:spPr>
          <a:xfrm xmlns:a="http://schemas.openxmlformats.org/drawingml/2006/main">
            <a:off x="6419850" y="237172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5B4A"/>
                </a:solidFill>
                <a:latin typeface="Arial"/>
                <a:ea typeface="Arial"/>
                <a:cs typeface="Arial"/>
              </a:defRPr>
            </a:defPPr>
            <a:lvl1pPr>
              <a:defRPr sz="1500" b="1">
                <a:solidFill>
                  <a:srgbClr val="285B4A"/>
                </a:solidFill>
                <a:latin typeface="Arial"/>
                <a:ea typeface="Arial"/>
                <a:cs typeface="Arial"/>
              </a:defRPr>
            </a:lvl1pPr>
            <a:lvl2pPr>
              <a:defRPr sz="1500" b="1">
                <a:solidFill>
                  <a:srgbClr val="285B4A"/>
                </a:solidFill>
                <a:latin typeface="Arial"/>
                <a:ea typeface="Arial"/>
                <a:cs typeface="Arial"/>
              </a:defRPr>
            </a:lvl2pPr>
            <a:lvl3pPr>
              <a:defRPr sz="1500" b="1">
                <a:solidFill>
                  <a:srgbClr val="285B4A"/>
                </a:solidFill>
                <a:latin typeface="Arial"/>
                <a:ea typeface="Arial"/>
                <a:cs typeface="Arial"/>
              </a:defRPr>
            </a:lvl3pPr>
            <a:lvl4pPr>
              <a:defRPr sz="1500" b="1">
                <a:solidFill>
                  <a:srgbClr val="285B4A"/>
                </a:solidFill>
                <a:latin typeface="Arial"/>
                <a:ea typeface="Arial"/>
                <a:cs typeface="Arial"/>
              </a:defRPr>
            </a:lvl4pPr>
            <a:lvl5pPr>
              <a:defRPr sz="1500" b="1">
                <a:solidFill>
                  <a:srgbClr val="285B4A"/>
                </a:solidFill>
                <a:latin typeface="Arial"/>
                <a:ea typeface="Arial"/>
                <a:cs typeface="Arial"/>
              </a:defRPr>
            </a:lvl5pPr>
            <a:lvl6pPr>
              <a:defRPr sz="1500" b="1">
                <a:solidFill>
                  <a:srgbClr val="285B4A"/>
                </a:solidFill>
                <a:latin typeface="Arial"/>
                <a:ea typeface="Arial"/>
                <a:cs typeface="Arial"/>
              </a:defRPr>
            </a:lvl6pPr>
            <a:lvl7pPr>
              <a:defRPr sz="1500" b="1">
                <a:solidFill>
                  <a:srgbClr val="285B4A"/>
                </a:solidFill>
                <a:latin typeface="Arial"/>
                <a:ea typeface="Arial"/>
                <a:cs typeface="Arial"/>
              </a:defRPr>
            </a:lvl7pPr>
            <a:lvl8pPr>
              <a:defRPr sz="1500" b="1">
                <a:solidFill>
                  <a:srgbClr val="285B4A"/>
                </a:solidFill>
                <a:latin typeface="Arial"/>
                <a:ea typeface="Arial"/>
                <a:cs typeface="Arial"/>
              </a:defRPr>
            </a:lvl8pPr>
            <a:lvl9pPr>
              <a:defRPr sz="1500" b="1">
                <a:solidFill>
                  <a:srgbClr val="285B4A"/>
                </a:solidFill>
                <a:latin typeface="Arial"/>
                <a:ea typeface="Arial"/>
                <a:cs typeface="Arial"/>
              </a:defRPr>
            </a:lvl9pPr>
          </a:lstStyle>
          <a:p xmlns:a="http://schemas.openxmlformats.org/drawingml/2006/main">
            <a:pPr>
              <a:defRPr sz="1500" b="1">
                <a:solidFill>
                  <a:srgbClr val="285B4A"/>
                </a:solidFill>
                <a:latin typeface="Arial"/>
                <a:ea typeface="Arial"/>
                <a:cs typeface="Arial"/>
              </a:defRPr>
            </a:pPr>
            <a:r>
              <a:rPr sz="1500" b="1">
                <a:solidFill>
                  <a:srgbClr val="285B4A"/>
                </a:solidFill>
                <a:latin typeface="Arial"/>
                <a:ea typeface="Arial"/>
                <a:cs typeface="Arial"/>
              </a:rPr>
              <a:t>ANALYST REVIEW</a:t>
            </a:r>
          </a:p>
        </p:txBody>
      </p:sp>
      <p:sp>
        <p:nvSpPr>
          <p:cNvPr id="13" name="">
            <a:extLst xmlns:a="http://schemas.openxmlformats.org/drawingml/2006/main">
              <a:ext uri="{FF2B5EF4-FFF2-40B4-BE49-F238E27FC236}">
                <a16:creationId xmlns:a16="http://schemas.microsoft.com/office/drawing/2014/main" id="{23B0C3B9-240C-4126-A752-B20B3063197A}"/>
              </a:ext>
            </a:extLst>
          </p:cNvPr>
          <p:cNvSpPr>
            <a:spLocks xmlns:a="http://schemas.openxmlformats.org/drawingml/2006/main" noGrp="1"/>
          </p:cNvSpPr>
          <p:nvPr/>
        </p:nvSpPr>
        <p:spPr>
          <a:xfrm xmlns:a="http://schemas.openxmlformats.org/drawingml/2006/main">
            <a:off x="6419850" y="292417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A31"/>
                </a:solidFill>
                <a:latin typeface="Arial"/>
                <a:ea typeface="Arial"/>
                <a:cs typeface="Arial"/>
              </a:defRPr>
            </a:defPPr>
            <a:lvl1pPr>
              <a:defRPr sz="1875" b="0">
                <a:solidFill>
                  <a:srgbClr val="173A31"/>
                </a:solidFill>
                <a:latin typeface="Arial"/>
                <a:ea typeface="Arial"/>
                <a:cs typeface="Arial"/>
              </a:defRPr>
            </a:lvl1pPr>
            <a:lvl2pPr>
              <a:defRPr sz="1875" b="0">
                <a:solidFill>
                  <a:srgbClr val="173A31"/>
                </a:solidFill>
                <a:latin typeface="Arial"/>
                <a:ea typeface="Arial"/>
                <a:cs typeface="Arial"/>
              </a:defRPr>
            </a:lvl2pPr>
            <a:lvl3pPr>
              <a:defRPr sz="1875" b="0">
                <a:solidFill>
                  <a:srgbClr val="173A31"/>
                </a:solidFill>
                <a:latin typeface="Arial"/>
                <a:ea typeface="Arial"/>
                <a:cs typeface="Arial"/>
              </a:defRPr>
            </a:lvl3pPr>
            <a:lvl4pPr>
              <a:defRPr sz="1875" b="0">
                <a:solidFill>
                  <a:srgbClr val="173A31"/>
                </a:solidFill>
                <a:latin typeface="Arial"/>
                <a:ea typeface="Arial"/>
                <a:cs typeface="Arial"/>
              </a:defRPr>
            </a:lvl4pPr>
            <a:lvl5pPr>
              <a:defRPr sz="1875" b="0">
                <a:solidFill>
                  <a:srgbClr val="173A31"/>
                </a:solidFill>
                <a:latin typeface="Arial"/>
                <a:ea typeface="Arial"/>
                <a:cs typeface="Arial"/>
              </a:defRPr>
            </a:lvl5pPr>
            <a:lvl6pPr>
              <a:defRPr sz="1875" b="0">
                <a:solidFill>
                  <a:srgbClr val="173A31"/>
                </a:solidFill>
                <a:latin typeface="Arial"/>
                <a:ea typeface="Arial"/>
                <a:cs typeface="Arial"/>
              </a:defRPr>
            </a:lvl6pPr>
            <a:lvl7pPr>
              <a:defRPr sz="1875" b="0">
                <a:solidFill>
                  <a:srgbClr val="173A31"/>
                </a:solidFill>
                <a:latin typeface="Arial"/>
                <a:ea typeface="Arial"/>
                <a:cs typeface="Arial"/>
              </a:defRPr>
            </a:lvl7pPr>
            <a:lvl8pPr>
              <a:defRPr sz="1875" b="0">
                <a:solidFill>
                  <a:srgbClr val="173A31"/>
                </a:solidFill>
                <a:latin typeface="Arial"/>
                <a:ea typeface="Arial"/>
                <a:cs typeface="Arial"/>
              </a:defRPr>
            </a:lvl8pPr>
            <a:lvl9pPr>
              <a:defRPr sz="1875" b="0">
                <a:solidFill>
                  <a:srgbClr val="173A31"/>
                </a:solidFill>
                <a:latin typeface="Arial"/>
                <a:ea typeface="Arial"/>
                <a:cs typeface="Arial"/>
              </a:defRPr>
            </a:lvl9pPr>
          </a:lstStyle>
          <a:p xmlns:a="http://schemas.openxmlformats.org/drawingml/2006/main">
            <a:pPr>
              <a:defRPr sz="1875" b="0">
                <a:solidFill>
                  <a:srgbClr val="173A31"/>
                </a:solidFill>
                <a:latin typeface="Arial"/>
                <a:ea typeface="Arial"/>
                <a:cs typeface="Arial"/>
              </a:defRPr>
            </a:pPr>
            <a:r>
              <a:rPr sz="1875" b="0">
                <a:solidFill>
                  <a:srgbClr val="173A31"/>
                </a:solidFill>
                <a:latin typeface="Arial"/>
                <a:ea typeface="Arial"/>
                <a:cs typeface="Arial"/>
              </a:rPr>
              <a:t>Scenario + issuer</a:t>
            </a:r>
          </a:p>
          <a:p xmlns:a="http://schemas.openxmlformats.org/drawingml/2006/main">
            <a:pPr>
              <a:defRPr sz="1875" b="0">
                <a:solidFill>
                  <a:srgbClr val="173A31"/>
                </a:solidFill>
                <a:latin typeface="Arial"/>
                <a:ea typeface="Arial"/>
                <a:cs typeface="Arial"/>
              </a:defRPr>
            </a:pPr>
            <a:r>
              <a:rPr sz="1875" b="0">
                <a:solidFill>
                  <a:srgbClr val="173A31"/>
                </a:solidFill>
                <a:latin typeface="Arial"/>
                <a:ea typeface="Arial"/>
                <a:cs typeface="Arial"/>
              </a:rPr>
              <a:t>Intensity 1–10</a:t>
            </a:r>
          </a:p>
        </p:txBody>
      </p:sp>
      <p:sp>
        <p:nvSpPr>
          <p:cNvPr id="14" name="">
            <a:extLst xmlns:a="http://schemas.openxmlformats.org/drawingml/2006/main">
              <a:ext uri="{FF2B5EF4-FFF2-40B4-BE49-F238E27FC236}">
                <a16:creationId xmlns:a16="http://schemas.microsoft.com/office/drawing/2014/main" id="{49ECB359-7548-4839-A7EB-1FDDDB8CC6D1}"/>
              </a:ext>
            </a:extLst>
          </p:cNvPr>
          <p:cNvSpPr>
            <a:spLocks xmlns:a="http://schemas.openxmlformats.org/drawingml/2006/main" noGrp="1"/>
          </p:cNvSpPr>
          <p:nvPr/>
        </p:nvSpPr>
        <p:spPr>
          <a:xfrm xmlns:a="http://schemas.openxmlformats.org/drawingml/2006/main">
            <a:off x="8820150" y="2857500"/>
            <a:ext cx="285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285B4A"/>
                </a:solidFill>
                <a:latin typeface="Arial"/>
                <a:ea typeface="Arial"/>
                <a:cs typeface="Arial"/>
              </a:defRPr>
            </a:defPPr>
            <a:lvl1pPr>
              <a:defRPr sz="2250" b="0">
                <a:solidFill>
                  <a:srgbClr val="285B4A"/>
                </a:solidFill>
                <a:latin typeface="Arial"/>
                <a:ea typeface="Arial"/>
                <a:cs typeface="Arial"/>
              </a:defRPr>
            </a:lvl1pPr>
            <a:lvl2pPr>
              <a:defRPr sz="2250" b="0">
                <a:solidFill>
                  <a:srgbClr val="285B4A"/>
                </a:solidFill>
                <a:latin typeface="Arial"/>
                <a:ea typeface="Arial"/>
                <a:cs typeface="Arial"/>
              </a:defRPr>
            </a:lvl2pPr>
            <a:lvl3pPr>
              <a:defRPr sz="2250" b="0">
                <a:solidFill>
                  <a:srgbClr val="285B4A"/>
                </a:solidFill>
                <a:latin typeface="Arial"/>
                <a:ea typeface="Arial"/>
                <a:cs typeface="Arial"/>
              </a:defRPr>
            </a:lvl3pPr>
            <a:lvl4pPr>
              <a:defRPr sz="2250" b="0">
                <a:solidFill>
                  <a:srgbClr val="285B4A"/>
                </a:solidFill>
                <a:latin typeface="Arial"/>
                <a:ea typeface="Arial"/>
                <a:cs typeface="Arial"/>
              </a:defRPr>
            </a:lvl4pPr>
            <a:lvl5pPr>
              <a:defRPr sz="2250" b="0">
                <a:solidFill>
                  <a:srgbClr val="285B4A"/>
                </a:solidFill>
                <a:latin typeface="Arial"/>
                <a:ea typeface="Arial"/>
                <a:cs typeface="Arial"/>
              </a:defRPr>
            </a:lvl5pPr>
            <a:lvl6pPr>
              <a:defRPr sz="2250" b="0">
                <a:solidFill>
                  <a:srgbClr val="285B4A"/>
                </a:solidFill>
                <a:latin typeface="Arial"/>
                <a:ea typeface="Arial"/>
                <a:cs typeface="Arial"/>
              </a:defRPr>
            </a:lvl6pPr>
            <a:lvl7pPr>
              <a:defRPr sz="2250" b="0">
                <a:solidFill>
                  <a:srgbClr val="285B4A"/>
                </a:solidFill>
                <a:latin typeface="Arial"/>
                <a:ea typeface="Arial"/>
                <a:cs typeface="Arial"/>
              </a:defRPr>
            </a:lvl7pPr>
            <a:lvl8pPr>
              <a:defRPr sz="2250" b="0">
                <a:solidFill>
                  <a:srgbClr val="285B4A"/>
                </a:solidFill>
                <a:latin typeface="Arial"/>
                <a:ea typeface="Arial"/>
                <a:cs typeface="Arial"/>
              </a:defRPr>
            </a:lvl8pPr>
            <a:lvl9pPr>
              <a:defRPr sz="2250" b="0">
                <a:solidFill>
                  <a:srgbClr val="285B4A"/>
                </a:solidFill>
                <a:latin typeface="Arial"/>
                <a:ea typeface="Arial"/>
                <a:cs typeface="Arial"/>
              </a:defRPr>
            </a:lvl9pPr>
          </a:lstStyle>
          <a:p xmlns:a="http://schemas.openxmlformats.org/drawingml/2006/main">
            <a:pPr>
              <a:defRPr sz="2250" b="0">
                <a:solidFill>
                  <a:srgbClr val="285B4A"/>
                </a:solidFill>
                <a:latin typeface="Arial"/>
                <a:ea typeface="Arial"/>
                <a:cs typeface="Arial"/>
              </a:defRPr>
            </a:pPr>
            <a:r>
              <a:rPr sz="2250" b="0">
                <a:solidFill>
                  <a:srgbClr val="285B4A"/>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8009E92E-DCD4-4589-8550-DCFA6972CC2F}"/>
              </a:ext>
            </a:extLst>
          </p:cNvPr>
          <p:cNvSpPr>
            <a:spLocks xmlns:a="http://schemas.openxmlformats.org/drawingml/2006/main" noGrp="1"/>
          </p:cNvSpPr>
          <p:nvPr/>
        </p:nvSpPr>
        <p:spPr>
          <a:xfrm xmlns:a="http://schemas.openxmlformats.org/drawingml/2006/main">
            <a:off x="9067800" y="2190750"/>
            <a:ext cx="2514600" cy="1762125"/>
          </a:xfrm>
          <a:prstGeom xmlns:a="http://schemas.openxmlformats.org/drawingml/2006/main" prst="rect">
            <a:avLst/>
          </a:prstGeom>
          <a:solidFill xmlns:a="http://schemas.openxmlformats.org/drawingml/2006/main">
            <a:srgbClr val="DCE9DF"/>
          </a:solidFill>
          <a:ln xmlns:a="http://schemas.openxmlformats.org/drawingml/2006/main" w="9525">
            <a:solidFill>
              <a:srgbClr val="285B4A"/>
            </a:solidFill>
          </a:ln>
        </p:spPr>
      </p:sp>
      <p:sp>
        <p:nvSpPr>
          <p:cNvPr id="16" name="">
            <a:extLst xmlns:a="http://schemas.openxmlformats.org/drawingml/2006/main">
              <a:ext uri="{FF2B5EF4-FFF2-40B4-BE49-F238E27FC236}">
                <a16:creationId xmlns:a16="http://schemas.microsoft.com/office/drawing/2014/main" id="{C35CBFEF-D787-45B9-8B05-EBFB53BF903C}"/>
              </a:ext>
            </a:extLst>
          </p:cNvPr>
          <p:cNvSpPr>
            <a:spLocks xmlns:a="http://schemas.openxmlformats.org/drawingml/2006/main" noGrp="1"/>
          </p:cNvSpPr>
          <p:nvPr/>
        </p:nvSpPr>
        <p:spPr>
          <a:xfrm xmlns:a="http://schemas.openxmlformats.org/drawingml/2006/main">
            <a:off x="9239250" y="2371725"/>
            <a:ext cx="2190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285B4A"/>
                </a:solidFill>
                <a:latin typeface="Arial"/>
                <a:ea typeface="Arial"/>
                <a:cs typeface="Arial"/>
              </a:defRPr>
            </a:defPPr>
            <a:lvl1pPr>
              <a:defRPr sz="1500" b="1">
                <a:solidFill>
                  <a:srgbClr val="285B4A"/>
                </a:solidFill>
                <a:latin typeface="Arial"/>
                <a:ea typeface="Arial"/>
                <a:cs typeface="Arial"/>
              </a:defRPr>
            </a:lvl1pPr>
            <a:lvl2pPr>
              <a:defRPr sz="1500" b="1">
                <a:solidFill>
                  <a:srgbClr val="285B4A"/>
                </a:solidFill>
                <a:latin typeface="Arial"/>
                <a:ea typeface="Arial"/>
                <a:cs typeface="Arial"/>
              </a:defRPr>
            </a:lvl2pPr>
            <a:lvl3pPr>
              <a:defRPr sz="1500" b="1">
                <a:solidFill>
                  <a:srgbClr val="285B4A"/>
                </a:solidFill>
                <a:latin typeface="Arial"/>
                <a:ea typeface="Arial"/>
                <a:cs typeface="Arial"/>
              </a:defRPr>
            </a:lvl3pPr>
            <a:lvl4pPr>
              <a:defRPr sz="1500" b="1">
                <a:solidFill>
                  <a:srgbClr val="285B4A"/>
                </a:solidFill>
                <a:latin typeface="Arial"/>
                <a:ea typeface="Arial"/>
                <a:cs typeface="Arial"/>
              </a:defRPr>
            </a:lvl4pPr>
            <a:lvl5pPr>
              <a:defRPr sz="1500" b="1">
                <a:solidFill>
                  <a:srgbClr val="285B4A"/>
                </a:solidFill>
                <a:latin typeface="Arial"/>
                <a:ea typeface="Arial"/>
                <a:cs typeface="Arial"/>
              </a:defRPr>
            </a:lvl5pPr>
            <a:lvl6pPr>
              <a:defRPr sz="1500" b="1">
                <a:solidFill>
                  <a:srgbClr val="285B4A"/>
                </a:solidFill>
                <a:latin typeface="Arial"/>
                <a:ea typeface="Arial"/>
                <a:cs typeface="Arial"/>
              </a:defRPr>
            </a:lvl6pPr>
            <a:lvl7pPr>
              <a:defRPr sz="1500" b="1">
                <a:solidFill>
                  <a:srgbClr val="285B4A"/>
                </a:solidFill>
                <a:latin typeface="Arial"/>
                <a:ea typeface="Arial"/>
                <a:cs typeface="Arial"/>
              </a:defRPr>
            </a:lvl7pPr>
            <a:lvl8pPr>
              <a:defRPr sz="1500" b="1">
                <a:solidFill>
                  <a:srgbClr val="285B4A"/>
                </a:solidFill>
                <a:latin typeface="Arial"/>
                <a:ea typeface="Arial"/>
                <a:cs typeface="Arial"/>
              </a:defRPr>
            </a:lvl8pPr>
            <a:lvl9pPr>
              <a:defRPr sz="1500" b="1">
                <a:solidFill>
                  <a:srgbClr val="285B4A"/>
                </a:solidFill>
                <a:latin typeface="Arial"/>
                <a:ea typeface="Arial"/>
                <a:cs typeface="Arial"/>
              </a:defRPr>
            </a:lvl9pPr>
          </a:lstStyle>
          <a:p xmlns:a="http://schemas.openxmlformats.org/drawingml/2006/main">
            <a:pPr>
              <a:defRPr sz="1500" b="1">
                <a:solidFill>
                  <a:srgbClr val="285B4A"/>
                </a:solidFill>
                <a:latin typeface="Arial"/>
                <a:ea typeface="Arial"/>
                <a:cs typeface="Arial"/>
              </a:defRPr>
            </a:pPr>
            <a:r>
              <a:rPr sz="1500" b="1">
                <a:solidFill>
                  <a:srgbClr val="285B4A"/>
                </a:solidFill>
                <a:latin typeface="Arial"/>
                <a:ea typeface="Arial"/>
                <a:cs typeface="Arial"/>
              </a:rPr>
              <a:t>STRESS ENGINE</a:t>
            </a:r>
          </a:p>
        </p:txBody>
      </p:sp>
      <p:sp>
        <p:nvSpPr>
          <p:cNvPr id="17" name="">
            <a:extLst xmlns:a="http://schemas.openxmlformats.org/drawingml/2006/main">
              <a:ext uri="{FF2B5EF4-FFF2-40B4-BE49-F238E27FC236}">
                <a16:creationId xmlns:a16="http://schemas.microsoft.com/office/drawing/2014/main" id="{1482EE9A-8EF2-4009-95B0-44C2D7C73B24}"/>
              </a:ext>
            </a:extLst>
          </p:cNvPr>
          <p:cNvSpPr>
            <a:spLocks xmlns:a="http://schemas.openxmlformats.org/drawingml/2006/main" noGrp="1"/>
          </p:cNvSpPr>
          <p:nvPr/>
        </p:nvSpPr>
        <p:spPr>
          <a:xfrm xmlns:a="http://schemas.openxmlformats.org/drawingml/2006/main">
            <a:off x="9239250" y="292417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73A31"/>
                </a:solidFill>
                <a:latin typeface="Arial"/>
                <a:ea typeface="Arial"/>
                <a:cs typeface="Arial"/>
              </a:defRPr>
            </a:defPPr>
            <a:lvl1pPr>
              <a:defRPr sz="1875" b="0">
                <a:solidFill>
                  <a:srgbClr val="173A31"/>
                </a:solidFill>
                <a:latin typeface="Arial"/>
                <a:ea typeface="Arial"/>
                <a:cs typeface="Arial"/>
              </a:defRPr>
            </a:lvl1pPr>
            <a:lvl2pPr>
              <a:defRPr sz="1875" b="0">
                <a:solidFill>
                  <a:srgbClr val="173A31"/>
                </a:solidFill>
                <a:latin typeface="Arial"/>
                <a:ea typeface="Arial"/>
                <a:cs typeface="Arial"/>
              </a:defRPr>
            </a:lvl2pPr>
            <a:lvl3pPr>
              <a:defRPr sz="1875" b="0">
                <a:solidFill>
                  <a:srgbClr val="173A31"/>
                </a:solidFill>
                <a:latin typeface="Arial"/>
                <a:ea typeface="Arial"/>
                <a:cs typeface="Arial"/>
              </a:defRPr>
            </a:lvl3pPr>
            <a:lvl4pPr>
              <a:defRPr sz="1875" b="0">
                <a:solidFill>
                  <a:srgbClr val="173A31"/>
                </a:solidFill>
                <a:latin typeface="Arial"/>
                <a:ea typeface="Arial"/>
                <a:cs typeface="Arial"/>
              </a:defRPr>
            </a:lvl4pPr>
            <a:lvl5pPr>
              <a:defRPr sz="1875" b="0">
                <a:solidFill>
                  <a:srgbClr val="173A31"/>
                </a:solidFill>
                <a:latin typeface="Arial"/>
                <a:ea typeface="Arial"/>
                <a:cs typeface="Arial"/>
              </a:defRPr>
            </a:lvl5pPr>
            <a:lvl6pPr>
              <a:defRPr sz="1875" b="0">
                <a:solidFill>
                  <a:srgbClr val="173A31"/>
                </a:solidFill>
                <a:latin typeface="Arial"/>
                <a:ea typeface="Arial"/>
                <a:cs typeface="Arial"/>
              </a:defRPr>
            </a:lvl6pPr>
            <a:lvl7pPr>
              <a:defRPr sz="1875" b="0">
                <a:solidFill>
                  <a:srgbClr val="173A31"/>
                </a:solidFill>
                <a:latin typeface="Arial"/>
                <a:ea typeface="Arial"/>
                <a:cs typeface="Arial"/>
              </a:defRPr>
            </a:lvl7pPr>
            <a:lvl8pPr>
              <a:defRPr sz="1875" b="0">
                <a:solidFill>
                  <a:srgbClr val="173A31"/>
                </a:solidFill>
                <a:latin typeface="Arial"/>
                <a:ea typeface="Arial"/>
                <a:cs typeface="Arial"/>
              </a:defRPr>
            </a:lvl8pPr>
            <a:lvl9pPr>
              <a:defRPr sz="1875" b="0">
                <a:solidFill>
                  <a:srgbClr val="173A31"/>
                </a:solidFill>
                <a:latin typeface="Arial"/>
                <a:ea typeface="Arial"/>
                <a:cs typeface="Arial"/>
              </a:defRPr>
            </a:lvl9pPr>
          </a:lstStyle>
          <a:p xmlns:a="http://schemas.openxmlformats.org/drawingml/2006/main">
            <a:pPr>
              <a:defRPr sz="1875" b="0">
                <a:solidFill>
                  <a:srgbClr val="173A31"/>
                </a:solidFill>
                <a:latin typeface="Arial"/>
                <a:ea typeface="Arial"/>
                <a:cs typeface="Arial"/>
              </a:defRPr>
            </a:pPr>
            <a:r>
              <a:rPr sz="1875" b="0">
                <a:solidFill>
                  <a:srgbClr val="173A31"/>
                </a:solidFill>
                <a:latin typeface="Arial"/>
                <a:ea typeface="Arial"/>
                <a:cs typeface="Arial"/>
              </a:rPr>
              <a:t>Eligibility mask</a:t>
            </a:r>
          </a:p>
          <a:p xmlns:a="http://schemas.openxmlformats.org/drawingml/2006/main">
            <a:pPr>
              <a:defRPr sz="1875" b="0">
                <a:solidFill>
                  <a:srgbClr val="173A31"/>
                </a:solidFill>
                <a:latin typeface="Arial"/>
                <a:ea typeface="Arial"/>
                <a:cs typeface="Arial"/>
              </a:defRPr>
            </a:pPr>
            <a:r>
              <a:rPr sz="1875" b="0">
                <a:solidFill>
                  <a:srgbClr val="173A31"/>
                </a:solidFill>
                <a:latin typeface="Arial"/>
                <a:ea typeface="Arial"/>
                <a:cs typeface="Arial"/>
              </a:rPr>
              <a:t>Position P&amp;L</a:t>
            </a:r>
          </a:p>
        </p:txBody>
      </p:sp>
      <p:sp>
        <p:nvSpPr>
          <p:cNvPr id="18" name="">
            <a:extLst xmlns:a="http://schemas.openxmlformats.org/drawingml/2006/main">
              <a:ext uri="{FF2B5EF4-FFF2-40B4-BE49-F238E27FC236}">
                <a16:creationId xmlns:a16="http://schemas.microsoft.com/office/drawing/2014/main" id="{EBEF67AF-7EE4-412D-A47A-59B3781B33A6}"/>
              </a:ext>
            </a:extLst>
          </p:cNvPr>
          <p:cNvSpPr>
            <a:spLocks xmlns:a="http://schemas.openxmlformats.org/drawingml/2006/main" noGrp="1"/>
          </p:cNvSpPr>
          <p:nvPr/>
        </p:nvSpPr>
        <p:spPr>
          <a:xfrm xmlns:a="http://schemas.openxmlformats.org/drawingml/2006/main">
            <a:off x="609600" y="4486275"/>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285B4A"/>
                </a:solidFill>
                <a:latin typeface="Arial"/>
                <a:ea typeface="Arial"/>
                <a:cs typeface="Arial"/>
              </a:defRPr>
            </a:defPPr>
            <a:lvl1pPr>
              <a:defRPr sz="1650" b="1">
                <a:solidFill>
                  <a:srgbClr val="285B4A"/>
                </a:solidFill>
                <a:latin typeface="Arial"/>
                <a:ea typeface="Arial"/>
                <a:cs typeface="Arial"/>
              </a:defRPr>
            </a:lvl1pPr>
            <a:lvl2pPr>
              <a:defRPr sz="1650" b="1">
                <a:solidFill>
                  <a:srgbClr val="285B4A"/>
                </a:solidFill>
                <a:latin typeface="Arial"/>
                <a:ea typeface="Arial"/>
                <a:cs typeface="Arial"/>
              </a:defRPr>
            </a:lvl2pPr>
            <a:lvl3pPr>
              <a:defRPr sz="1650" b="1">
                <a:solidFill>
                  <a:srgbClr val="285B4A"/>
                </a:solidFill>
                <a:latin typeface="Arial"/>
                <a:ea typeface="Arial"/>
                <a:cs typeface="Arial"/>
              </a:defRPr>
            </a:lvl3pPr>
            <a:lvl4pPr>
              <a:defRPr sz="1650" b="1">
                <a:solidFill>
                  <a:srgbClr val="285B4A"/>
                </a:solidFill>
                <a:latin typeface="Arial"/>
                <a:ea typeface="Arial"/>
                <a:cs typeface="Arial"/>
              </a:defRPr>
            </a:lvl4pPr>
            <a:lvl5pPr>
              <a:defRPr sz="1650" b="1">
                <a:solidFill>
                  <a:srgbClr val="285B4A"/>
                </a:solidFill>
                <a:latin typeface="Arial"/>
                <a:ea typeface="Arial"/>
                <a:cs typeface="Arial"/>
              </a:defRPr>
            </a:lvl5pPr>
            <a:lvl6pPr>
              <a:defRPr sz="1650" b="1">
                <a:solidFill>
                  <a:srgbClr val="285B4A"/>
                </a:solidFill>
                <a:latin typeface="Arial"/>
                <a:ea typeface="Arial"/>
                <a:cs typeface="Arial"/>
              </a:defRPr>
            </a:lvl6pPr>
            <a:lvl7pPr>
              <a:defRPr sz="1650" b="1">
                <a:solidFill>
                  <a:srgbClr val="285B4A"/>
                </a:solidFill>
                <a:latin typeface="Arial"/>
                <a:ea typeface="Arial"/>
                <a:cs typeface="Arial"/>
              </a:defRPr>
            </a:lvl7pPr>
            <a:lvl8pPr>
              <a:defRPr sz="1650" b="1">
                <a:solidFill>
                  <a:srgbClr val="285B4A"/>
                </a:solidFill>
                <a:latin typeface="Arial"/>
                <a:ea typeface="Arial"/>
                <a:cs typeface="Arial"/>
              </a:defRPr>
            </a:lvl8pPr>
            <a:lvl9pPr>
              <a:defRPr sz="1650" b="1">
                <a:solidFill>
                  <a:srgbClr val="285B4A"/>
                </a:solidFill>
                <a:latin typeface="Arial"/>
                <a:ea typeface="Arial"/>
                <a:cs typeface="Arial"/>
              </a:defRPr>
            </a:lvl9pPr>
          </a:lstStyle>
          <a:p xmlns:a="http://schemas.openxmlformats.org/drawingml/2006/main">
            <a:pPr>
              <a:defRPr sz="1650" b="1">
                <a:solidFill>
                  <a:srgbClr val="285B4A"/>
                </a:solidFill>
                <a:latin typeface="Arial"/>
                <a:ea typeface="Arial"/>
                <a:cs typeface="Arial"/>
              </a:defRPr>
            </a:pPr>
            <a:r>
              <a:rPr sz="1650" b="1">
                <a:solidFill>
                  <a:srgbClr val="285B4A"/>
                </a:solidFill>
                <a:latin typeface="Arial"/>
                <a:ea typeface="Arial"/>
                <a:cs typeface="Arial"/>
              </a:rPr>
              <a:t>AUDIT OUTPUT</a:t>
            </a:r>
          </a:p>
        </p:txBody>
      </p:sp>
      <p:sp>
        <p:nvSpPr>
          <p:cNvPr id="19" name="">
            <a:extLst xmlns:a="http://schemas.openxmlformats.org/drawingml/2006/main">
              <a:ext uri="{FF2B5EF4-FFF2-40B4-BE49-F238E27FC236}">
                <a16:creationId xmlns:a16="http://schemas.microsoft.com/office/drawing/2014/main" id="{47942EBC-7319-48C6-BF60-C0E507743DC0}"/>
              </a:ext>
            </a:extLst>
          </p:cNvPr>
          <p:cNvSpPr>
            <a:spLocks xmlns:a="http://schemas.openxmlformats.org/drawingml/2006/main" noGrp="1"/>
          </p:cNvSpPr>
          <p:nvPr/>
        </p:nvSpPr>
        <p:spPr>
          <a:xfrm xmlns:a="http://schemas.openxmlformats.org/drawingml/2006/main">
            <a:off x="609600" y="4924425"/>
            <a:ext cx="10763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73A31"/>
                </a:solidFill>
                <a:latin typeface="Arial"/>
                <a:ea typeface="Arial"/>
                <a:cs typeface="Arial"/>
              </a:defRPr>
            </a:defPPr>
            <a:lvl1pPr>
              <a:defRPr sz="2100" b="0">
                <a:solidFill>
                  <a:srgbClr val="173A31"/>
                </a:solidFill>
                <a:latin typeface="Arial"/>
                <a:ea typeface="Arial"/>
                <a:cs typeface="Arial"/>
              </a:defRPr>
            </a:lvl1pPr>
            <a:lvl2pPr>
              <a:defRPr sz="2100" b="0">
                <a:solidFill>
                  <a:srgbClr val="173A31"/>
                </a:solidFill>
                <a:latin typeface="Arial"/>
                <a:ea typeface="Arial"/>
                <a:cs typeface="Arial"/>
              </a:defRPr>
            </a:lvl2pPr>
            <a:lvl3pPr>
              <a:defRPr sz="2100" b="0">
                <a:solidFill>
                  <a:srgbClr val="173A31"/>
                </a:solidFill>
                <a:latin typeface="Arial"/>
                <a:ea typeface="Arial"/>
                <a:cs typeface="Arial"/>
              </a:defRPr>
            </a:lvl3pPr>
            <a:lvl4pPr>
              <a:defRPr sz="2100" b="0">
                <a:solidFill>
                  <a:srgbClr val="173A31"/>
                </a:solidFill>
                <a:latin typeface="Arial"/>
                <a:ea typeface="Arial"/>
                <a:cs typeface="Arial"/>
              </a:defRPr>
            </a:lvl4pPr>
            <a:lvl5pPr>
              <a:defRPr sz="2100" b="0">
                <a:solidFill>
                  <a:srgbClr val="173A31"/>
                </a:solidFill>
                <a:latin typeface="Arial"/>
                <a:ea typeface="Arial"/>
                <a:cs typeface="Arial"/>
              </a:defRPr>
            </a:lvl5pPr>
            <a:lvl6pPr>
              <a:defRPr sz="2100" b="0">
                <a:solidFill>
                  <a:srgbClr val="173A31"/>
                </a:solidFill>
                <a:latin typeface="Arial"/>
                <a:ea typeface="Arial"/>
                <a:cs typeface="Arial"/>
              </a:defRPr>
            </a:lvl6pPr>
            <a:lvl7pPr>
              <a:defRPr sz="2100" b="0">
                <a:solidFill>
                  <a:srgbClr val="173A31"/>
                </a:solidFill>
                <a:latin typeface="Arial"/>
                <a:ea typeface="Arial"/>
                <a:cs typeface="Arial"/>
              </a:defRPr>
            </a:lvl7pPr>
            <a:lvl8pPr>
              <a:defRPr sz="2100" b="0">
                <a:solidFill>
                  <a:srgbClr val="173A31"/>
                </a:solidFill>
                <a:latin typeface="Arial"/>
                <a:ea typeface="Arial"/>
                <a:cs typeface="Arial"/>
              </a:defRPr>
            </a:lvl8pPr>
            <a:lvl9pPr>
              <a:defRPr sz="2100" b="0">
                <a:solidFill>
                  <a:srgbClr val="173A31"/>
                </a:solidFill>
                <a:latin typeface="Arial"/>
                <a:ea typeface="Arial"/>
                <a:cs typeface="Arial"/>
              </a:defRPr>
            </a:lvl9pPr>
          </a:lstStyle>
          <a:p xmlns:a="http://schemas.openxmlformats.org/drawingml/2006/main">
            <a:pPr>
              <a:defRPr sz="2100" b="0">
                <a:solidFill>
                  <a:srgbClr val="173A31"/>
                </a:solidFill>
                <a:latin typeface="Arial"/>
                <a:ea typeface="Arial"/>
                <a:cs typeface="Arial"/>
              </a:defRPr>
            </a:pPr>
            <a:r>
              <a:rPr sz="2100" b="0">
                <a:solidFill>
                  <a:srgbClr val="173A31"/>
                </a:solidFill>
                <a:latin typeface="Arial"/>
                <a:ea typeface="Arial"/>
                <a:cs typeface="Arial"/>
              </a:rPr>
              <a:t>Input snapshot + scenario assumptions + position ledger + SHA-256 fingerprint</a:t>
            </a:r>
          </a:p>
        </p:txBody>
      </p:sp>
      <p:sp>
        <p:nvSpPr>
          <p:cNvPr id="20" name="">
            <a:extLst xmlns:a="http://schemas.openxmlformats.org/drawingml/2006/main">
              <a:ext uri="{FF2B5EF4-FFF2-40B4-BE49-F238E27FC236}">
                <a16:creationId xmlns:a16="http://schemas.microsoft.com/office/drawing/2014/main" id="{951DAA64-5B8E-4214-BCAB-7F3AD40893C5}"/>
              </a:ext>
            </a:extLst>
          </p:cNvPr>
          <p:cNvSpPr>
            <a:spLocks xmlns:a="http://schemas.openxmlformats.org/drawingml/2006/main" noGrp="1"/>
          </p:cNvSpPr>
          <p:nvPr/>
        </p:nvSpPr>
        <p:spPr>
          <a:xfrm xmlns:a="http://schemas.openxmlformats.org/drawingml/2006/main">
            <a:off x="609600" y="5905500"/>
            <a:ext cx="1066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53675D"/>
                </a:solidFill>
                <a:latin typeface="Arial"/>
                <a:ea typeface="Arial"/>
                <a:cs typeface="Arial"/>
              </a:defRPr>
            </a:defPPr>
            <a:lvl1pPr>
              <a:defRPr sz="1650" b="0">
                <a:solidFill>
                  <a:srgbClr val="53675D"/>
                </a:solidFill>
                <a:latin typeface="Arial"/>
                <a:ea typeface="Arial"/>
                <a:cs typeface="Arial"/>
              </a:defRPr>
            </a:lvl1pPr>
            <a:lvl2pPr>
              <a:defRPr sz="1650" b="0">
                <a:solidFill>
                  <a:srgbClr val="53675D"/>
                </a:solidFill>
                <a:latin typeface="Arial"/>
                <a:ea typeface="Arial"/>
                <a:cs typeface="Arial"/>
              </a:defRPr>
            </a:lvl2pPr>
            <a:lvl3pPr>
              <a:defRPr sz="1650" b="0">
                <a:solidFill>
                  <a:srgbClr val="53675D"/>
                </a:solidFill>
                <a:latin typeface="Arial"/>
                <a:ea typeface="Arial"/>
                <a:cs typeface="Arial"/>
              </a:defRPr>
            </a:lvl3pPr>
            <a:lvl4pPr>
              <a:defRPr sz="1650" b="0">
                <a:solidFill>
                  <a:srgbClr val="53675D"/>
                </a:solidFill>
                <a:latin typeface="Arial"/>
                <a:ea typeface="Arial"/>
                <a:cs typeface="Arial"/>
              </a:defRPr>
            </a:lvl4pPr>
            <a:lvl5pPr>
              <a:defRPr sz="1650" b="0">
                <a:solidFill>
                  <a:srgbClr val="53675D"/>
                </a:solidFill>
                <a:latin typeface="Arial"/>
                <a:ea typeface="Arial"/>
                <a:cs typeface="Arial"/>
              </a:defRPr>
            </a:lvl5pPr>
            <a:lvl6pPr>
              <a:defRPr sz="1650" b="0">
                <a:solidFill>
                  <a:srgbClr val="53675D"/>
                </a:solidFill>
                <a:latin typeface="Arial"/>
                <a:ea typeface="Arial"/>
                <a:cs typeface="Arial"/>
              </a:defRPr>
            </a:lvl6pPr>
            <a:lvl7pPr>
              <a:defRPr sz="1650" b="0">
                <a:solidFill>
                  <a:srgbClr val="53675D"/>
                </a:solidFill>
                <a:latin typeface="Arial"/>
                <a:ea typeface="Arial"/>
                <a:cs typeface="Arial"/>
              </a:defRPr>
            </a:lvl7pPr>
            <a:lvl8pPr>
              <a:defRPr sz="1650" b="0">
                <a:solidFill>
                  <a:srgbClr val="53675D"/>
                </a:solidFill>
                <a:latin typeface="Arial"/>
                <a:ea typeface="Arial"/>
                <a:cs typeface="Arial"/>
              </a:defRPr>
            </a:lvl8pPr>
            <a:lvl9pPr>
              <a:defRPr sz="1650" b="0">
                <a:solidFill>
                  <a:srgbClr val="53675D"/>
                </a:solidFill>
                <a:latin typeface="Arial"/>
                <a:ea typeface="Arial"/>
                <a:cs typeface="Arial"/>
              </a:defRPr>
            </a:lvl9pPr>
          </a:lstStyle>
          <a:p xmlns:a="http://schemas.openxmlformats.org/drawingml/2006/main">
            <a:pPr>
              <a:defRPr sz="1650" b="0">
                <a:solidFill>
                  <a:srgbClr val="53675D"/>
                </a:solidFill>
                <a:latin typeface="Arial"/>
                <a:ea typeface="Arial"/>
                <a:cs typeface="Arial"/>
              </a:defRPr>
            </a:pPr>
            <a:r>
              <a:rPr sz="1650" b="0">
                <a:solidFill>
                  <a:srgbClr val="53675D"/>
                </a:solidFill>
                <a:latin typeface="Arial"/>
                <a:ea typeface="Arial"/>
                <a:cs typeface="Arial"/>
              </a:rPr>
              <a:t>Python / pandas calculations · Streamlit interface · JSON and CSV exports</a:t>
            </a:r>
          </a:p>
        </p:txBody>
      </p:sp>
    </p:spTree>
    <p:extLst>
      <p:ext uri="{BB962C8B-B14F-4D97-AF65-F5344CB8AC3E}">
        <p14:creationId xmlns:p14="http://schemas.microsoft.com/office/powerpoint/2010/main" val="1374526935"/>
      </p:ext>
    </p:extLst>
  </p:cSld>
</p:sld>
</file>

<file path=ppt/slides/slide4.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828681A-3D31-4B42-BB3A-79F296420F32}"/>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A31"/>
                </a:solidFill>
                <a:latin typeface="Arial"/>
                <a:ea typeface="Arial"/>
                <a:cs typeface="Arial"/>
              </a:defRPr>
            </a:defPPr>
            <a:lvl1pPr>
              <a:defRPr sz="3300" b="1">
                <a:solidFill>
                  <a:srgbClr val="173A31"/>
                </a:solidFill>
                <a:latin typeface="Arial"/>
                <a:ea typeface="Arial"/>
                <a:cs typeface="Arial"/>
              </a:defRPr>
            </a:lvl1pPr>
            <a:lvl2pPr>
              <a:defRPr sz="3300" b="1">
                <a:solidFill>
                  <a:srgbClr val="173A31"/>
                </a:solidFill>
                <a:latin typeface="Arial"/>
                <a:ea typeface="Arial"/>
                <a:cs typeface="Arial"/>
              </a:defRPr>
            </a:lvl2pPr>
            <a:lvl3pPr>
              <a:defRPr sz="3300" b="1">
                <a:solidFill>
                  <a:srgbClr val="173A31"/>
                </a:solidFill>
                <a:latin typeface="Arial"/>
                <a:ea typeface="Arial"/>
                <a:cs typeface="Arial"/>
              </a:defRPr>
            </a:lvl3pPr>
            <a:lvl4pPr>
              <a:defRPr sz="3300" b="1">
                <a:solidFill>
                  <a:srgbClr val="173A31"/>
                </a:solidFill>
                <a:latin typeface="Arial"/>
                <a:ea typeface="Arial"/>
                <a:cs typeface="Arial"/>
              </a:defRPr>
            </a:lvl4pPr>
            <a:lvl5pPr>
              <a:defRPr sz="3300" b="1">
                <a:solidFill>
                  <a:srgbClr val="173A31"/>
                </a:solidFill>
                <a:latin typeface="Arial"/>
                <a:ea typeface="Arial"/>
                <a:cs typeface="Arial"/>
              </a:defRPr>
            </a:lvl5pPr>
            <a:lvl6pPr>
              <a:defRPr sz="3300" b="1">
                <a:solidFill>
                  <a:srgbClr val="173A31"/>
                </a:solidFill>
                <a:latin typeface="Arial"/>
                <a:ea typeface="Arial"/>
                <a:cs typeface="Arial"/>
              </a:defRPr>
            </a:lvl6pPr>
            <a:lvl7pPr>
              <a:defRPr sz="3300" b="1">
                <a:solidFill>
                  <a:srgbClr val="173A31"/>
                </a:solidFill>
                <a:latin typeface="Arial"/>
                <a:ea typeface="Arial"/>
                <a:cs typeface="Arial"/>
              </a:defRPr>
            </a:lvl7pPr>
            <a:lvl8pPr>
              <a:defRPr sz="3300" b="1">
                <a:solidFill>
                  <a:srgbClr val="173A31"/>
                </a:solidFill>
                <a:latin typeface="Arial"/>
                <a:ea typeface="Arial"/>
                <a:cs typeface="Arial"/>
              </a:defRPr>
            </a:lvl8pPr>
            <a:lvl9pPr>
              <a:defRPr sz="3300" b="1">
                <a:solidFill>
                  <a:srgbClr val="173A31"/>
                </a:solidFill>
                <a:latin typeface="Arial"/>
                <a:ea typeface="Arial"/>
                <a:cs typeface="Arial"/>
              </a:defRPr>
            </a:lvl9pPr>
          </a:lstStyle>
          <a:p xmlns:a="http://schemas.openxmlformats.org/drawingml/2006/main">
            <a:pPr>
              <a:defRPr sz="3300" b="1">
                <a:solidFill>
                  <a:srgbClr val="173A31"/>
                </a:solidFill>
                <a:latin typeface="Arial"/>
                <a:ea typeface="Arial"/>
                <a:cs typeface="Arial"/>
              </a:defRPr>
            </a:pPr>
            <a:r>
              <a:rPr sz="3300" b="1">
                <a:solidFill>
                  <a:srgbClr val="173A31"/>
                </a:solidFill>
                <a:latin typeface="Arial"/>
                <a:ea typeface="Arial"/>
                <a:cs typeface="Arial"/>
              </a:rPr>
              <a:t>A working, auditable prototype</a:t>
            </a:r>
          </a:p>
        </p:txBody>
      </p:sp>
      <p:sp>
        <p:nvSpPr>
          <p:cNvPr id="2" name="">
            <a:extLst xmlns:a="http://schemas.openxmlformats.org/drawingml/2006/main">
              <a:ext uri="{FF2B5EF4-FFF2-40B4-BE49-F238E27FC236}">
                <a16:creationId xmlns:a16="http://schemas.microsoft.com/office/drawing/2014/main" id="{3FE956C7-89A8-4024-A6CA-F84998224407}"/>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5D"/>
                </a:solidFill>
                <a:latin typeface="Arial"/>
                <a:ea typeface="Arial"/>
                <a:cs typeface="Arial"/>
              </a:defRPr>
            </a:defPPr>
            <a:lvl1pPr>
              <a:defRPr sz="1275" b="0">
                <a:solidFill>
                  <a:srgbClr val="53675D"/>
                </a:solidFill>
                <a:latin typeface="Arial"/>
                <a:ea typeface="Arial"/>
                <a:cs typeface="Arial"/>
              </a:defRPr>
            </a:lvl1pPr>
            <a:lvl2pPr>
              <a:defRPr sz="1275" b="0">
                <a:solidFill>
                  <a:srgbClr val="53675D"/>
                </a:solidFill>
                <a:latin typeface="Arial"/>
                <a:ea typeface="Arial"/>
                <a:cs typeface="Arial"/>
              </a:defRPr>
            </a:lvl2pPr>
            <a:lvl3pPr>
              <a:defRPr sz="1275" b="0">
                <a:solidFill>
                  <a:srgbClr val="53675D"/>
                </a:solidFill>
                <a:latin typeface="Arial"/>
                <a:ea typeface="Arial"/>
                <a:cs typeface="Arial"/>
              </a:defRPr>
            </a:lvl3pPr>
            <a:lvl4pPr>
              <a:defRPr sz="1275" b="0">
                <a:solidFill>
                  <a:srgbClr val="53675D"/>
                </a:solidFill>
                <a:latin typeface="Arial"/>
                <a:ea typeface="Arial"/>
                <a:cs typeface="Arial"/>
              </a:defRPr>
            </a:lvl4pPr>
            <a:lvl5pPr>
              <a:defRPr sz="1275" b="0">
                <a:solidFill>
                  <a:srgbClr val="53675D"/>
                </a:solidFill>
                <a:latin typeface="Arial"/>
                <a:ea typeface="Arial"/>
                <a:cs typeface="Arial"/>
              </a:defRPr>
            </a:lvl5pPr>
            <a:lvl6pPr>
              <a:defRPr sz="1275" b="0">
                <a:solidFill>
                  <a:srgbClr val="53675D"/>
                </a:solidFill>
                <a:latin typeface="Arial"/>
                <a:ea typeface="Arial"/>
                <a:cs typeface="Arial"/>
              </a:defRPr>
            </a:lvl6pPr>
            <a:lvl7pPr>
              <a:defRPr sz="1275" b="0">
                <a:solidFill>
                  <a:srgbClr val="53675D"/>
                </a:solidFill>
                <a:latin typeface="Arial"/>
                <a:ea typeface="Arial"/>
                <a:cs typeface="Arial"/>
              </a:defRPr>
            </a:lvl7pPr>
            <a:lvl8pPr>
              <a:defRPr sz="1275" b="0">
                <a:solidFill>
                  <a:srgbClr val="53675D"/>
                </a:solidFill>
                <a:latin typeface="Arial"/>
                <a:ea typeface="Arial"/>
                <a:cs typeface="Arial"/>
              </a:defRPr>
            </a:lvl8pPr>
            <a:lvl9pPr>
              <a:defRPr sz="1275" b="0">
                <a:solidFill>
                  <a:srgbClr val="53675D"/>
                </a:solidFill>
                <a:latin typeface="Arial"/>
                <a:ea typeface="Arial"/>
                <a:cs typeface="Arial"/>
              </a:defRPr>
            </a:lvl9pPr>
          </a:lstStyle>
          <a:p xmlns:a="http://schemas.openxmlformats.org/drawingml/2006/main">
            <a:pPr>
              <a:defRPr sz="1275" b="0">
                <a:solidFill>
                  <a:srgbClr val="53675D"/>
                </a:solidFill>
                <a:latin typeface="Arial"/>
                <a:ea typeface="Arial"/>
                <a:cs typeface="Arial"/>
              </a:defRPr>
            </a:pPr>
            <a:r>
              <a:rPr sz="1275" b="0">
                <a:solidFill>
                  <a:srgbClr val="53675D"/>
                </a:solidFill>
                <a:latin typeface="Arial"/>
                <a:ea typeface="Arial"/>
                <a:cs typeface="Arial"/>
              </a:rPr>
              <a:t>4 / 7</a:t>
            </a:r>
          </a:p>
        </p:txBody>
      </p:sp>
      <p:pic>
        <p:nvPicPr>
          <p:cNvPr id="3" name="">
            <a:extLst xmlns:a="http://schemas.openxmlformats.org/drawingml/2006/main">
              <a:ext uri="{FF2B5EF4-FFF2-40B4-BE49-F238E27FC236}">
                <a16:creationId xmlns:a16="http://schemas.microsoft.com/office/drawing/2014/main" id="{271F2029-15E5-47E5-9E83-5E41FC848DB0}"/>
              </a:ext>
            </a:extLst>
          </p:cNvPr>
          <p:cNvPicPr>
            <a:picLocks xmlns:a="http://schemas.openxmlformats.org/drawingml/2006/main" noChangeAspect="1"/>
          </p:cNvPicPr>
          <p:nvPr/>
        </p:nvPicPr>
        <p:blipFill>
          <a:blip xmlns:r="http://schemas.openxmlformats.org/officeDocument/2006/relationships" xmlns:a="http://schemas.openxmlformats.org/drawingml/2006/main" r:embed="R906c8c809e354a98"/>
          <a:stretch xmlns:a="http://schemas.openxmlformats.org/drawingml/2006/main"/>
        </p:blipFill>
        <p:spPr>
          <a:xfrm xmlns:a="http://schemas.openxmlformats.org/drawingml/2006/main">
            <a:off x="609600" y="1527572"/>
            <a:ext cx="7810500" cy="43934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8941C6E4-1305-4813-B144-FA97B706569C}"/>
              </a:ext>
            </a:extLst>
          </p:cNvPr>
          <p:cNvSpPr>
            <a:spLocks xmlns:a="http://schemas.openxmlformats.org/drawingml/2006/main" noGrp="1"/>
          </p:cNvSpPr>
          <p:nvPr/>
        </p:nvSpPr>
        <p:spPr>
          <a:xfrm xmlns:a="http://schemas.openxmlformats.org/drawingml/2006/main">
            <a:off x="8858250" y="1733550"/>
            <a:ext cx="2809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85B4A"/>
                </a:solidFill>
                <a:latin typeface="Arial"/>
                <a:ea typeface="Arial"/>
                <a:cs typeface="Arial"/>
              </a:defRPr>
            </a:defPPr>
            <a:lvl1pPr>
              <a:defRPr sz="2100" b="1">
                <a:solidFill>
                  <a:srgbClr val="285B4A"/>
                </a:solidFill>
                <a:latin typeface="Arial"/>
                <a:ea typeface="Arial"/>
                <a:cs typeface="Arial"/>
              </a:defRPr>
            </a:lvl1pPr>
            <a:lvl2pPr>
              <a:defRPr sz="2100" b="1">
                <a:solidFill>
                  <a:srgbClr val="285B4A"/>
                </a:solidFill>
                <a:latin typeface="Arial"/>
                <a:ea typeface="Arial"/>
                <a:cs typeface="Arial"/>
              </a:defRPr>
            </a:lvl2pPr>
            <a:lvl3pPr>
              <a:defRPr sz="2100" b="1">
                <a:solidFill>
                  <a:srgbClr val="285B4A"/>
                </a:solidFill>
                <a:latin typeface="Arial"/>
                <a:ea typeface="Arial"/>
                <a:cs typeface="Arial"/>
              </a:defRPr>
            </a:lvl3pPr>
            <a:lvl4pPr>
              <a:defRPr sz="2100" b="1">
                <a:solidFill>
                  <a:srgbClr val="285B4A"/>
                </a:solidFill>
                <a:latin typeface="Arial"/>
                <a:ea typeface="Arial"/>
                <a:cs typeface="Arial"/>
              </a:defRPr>
            </a:lvl4pPr>
            <a:lvl5pPr>
              <a:defRPr sz="2100" b="1">
                <a:solidFill>
                  <a:srgbClr val="285B4A"/>
                </a:solidFill>
                <a:latin typeface="Arial"/>
                <a:ea typeface="Arial"/>
                <a:cs typeface="Arial"/>
              </a:defRPr>
            </a:lvl5pPr>
            <a:lvl6pPr>
              <a:defRPr sz="2100" b="1">
                <a:solidFill>
                  <a:srgbClr val="285B4A"/>
                </a:solidFill>
                <a:latin typeface="Arial"/>
                <a:ea typeface="Arial"/>
                <a:cs typeface="Arial"/>
              </a:defRPr>
            </a:lvl6pPr>
            <a:lvl7pPr>
              <a:defRPr sz="2100" b="1">
                <a:solidFill>
                  <a:srgbClr val="285B4A"/>
                </a:solidFill>
                <a:latin typeface="Arial"/>
                <a:ea typeface="Arial"/>
                <a:cs typeface="Arial"/>
              </a:defRPr>
            </a:lvl7pPr>
            <a:lvl8pPr>
              <a:defRPr sz="2100" b="1">
                <a:solidFill>
                  <a:srgbClr val="285B4A"/>
                </a:solidFill>
                <a:latin typeface="Arial"/>
                <a:ea typeface="Arial"/>
                <a:cs typeface="Arial"/>
              </a:defRPr>
            </a:lvl8pPr>
            <a:lvl9pPr>
              <a:defRPr sz="2100" b="1">
                <a:solidFill>
                  <a:srgbClr val="285B4A"/>
                </a:solidFill>
                <a:latin typeface="Arial"/>
                <a:ea typeface="Arial"/>
                <a:cs typeface="Arial"/>
              </a:defRPr>
            </a:lvl9pPr>
          </a:lstStyle>
          <a:p xmlns:a="http://schemas.openxmlformats.org/drawingml/2006/main">
            <a:pPr>
              <a:defRPr sz="2100" b="1">
                <a:solidFill>
                  <a:srgbClr val="285B4A"/>
                </a:solidFill>
                <a:latin typeface="Arial"/>
                <a:ea typeface="Arial"/>
                <a:cs typeface="Arial"/>
              </a:defRPr>
            </a:pPr>
            <a:r>
              <a:rPr sz="2100" b="1">
                <a:solidFill>
                  <a:srgbClr val="285B4A"/>
                </a:solidFill>
                <a:latin typeface="Arial"/>
                <a:ea typeface="Arial"/>
                <a:cs typeface="Arial"/>
              </a:rPr>
              <a:t>Analyst controls</a:t>
            </a:r>
          </a:p>
        </p:txBody>
      </p:sp>
      <p:sp>
        <p:nvSpPr>
          <p:cNvPr id="5" name="">
            <a:extLst xmlns:a="http://schemas.openxmlformats.org/drawingml/2006/main">
              <a:ext uri="{FF2B5EF4-FFF2-40B4-BE49-F238E27FC236}">
                <a16:creationId xmlns:a16="http://schemas.microsoft.com/office/drawing/2014/main" id="{6B3E15B0-58BA-4A29-9B6A-30CD7C09949C}"/>
              </a:ext>
            </a:extLst>
          </p:cNvPr>
          <p:cNvSpPr>
            <a:spLocks xmlns:a="http://schemas.openxmlformats.org/drawingml/2006/main" noGrp="1"/>
          </p:cNvSpPr>
          <p:nvPr/>
        </p:nvSpPr>
        <p:spPr>
          <a:xfrm xmlns:a="http://schemas.openxmlformats.org/drawingml/2006/main">
            <a:off x="8858250" y="2333625"/>
            <a:ext cx="276225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73A31"/>
                </a:solidFill>
                <a:latin typeface="Arial"/>
                <a:ea typeface="Arial"/>
                <a:cs typeface="Arial"/>
              </a:defRPr>
            </a:defPPr>
            <a:lvl1pPr>
              <a:defRPr sz="1800" b="0">
                <a:solidFill>
                  <a:srgbClr val="173A31"/>
                </a:solidFill>
                <a:latin typeface="Arial"/>
                <a:ea typeface="Arial"/>
                <a:cs typeface="Arial"/>
              </a:defRPr>
            </a:lvl1pPr>
            <a:lvl2pPr>
              <a:defRPr sz="1800" b="0">
                <a:solidFill>
                  <a:srgbClr val="173A31"/>
                </a:solidFill>
                <a:latin typeface="Arial"/>
                <a:ea typeface="Arial"/>
                <a:cs typeface="Arial"/>
              </a:defRPr>
            </a:lvl2pPr>
            <a:lvl3pPr>
              <a:defRPr sz="1800" b="0">
                <a:solidFill>
                  <a:srgbClr val="173A31"/>
                </a:solidFill>
                <a:latin typeface="Arial"/>
                <a:ea typeface="Arial"/>
                <a:cs typeface="Arial"/>
              </a:defRPr>
            </a:lvl3pPr>
            <a:lvl4pPr>
              <a:defRPr sz="1800" b="0">
                <a:solidFill>
                  <a:srgbClr val="173A31"/>
                </a:solidFill>
                <a:latin typeface="Arial"/>
                <a:ea typeface="Arial"/>
                <a:cs typeface="Arial"/>
              </a:defRPr>
            </a:lvl4pPr>
            <a:lvl5pPr>
              <a:defRPr sz="1800" b="0">
                <a:solidFill>
                  <a:srgbClr val="173A31"/>
                </a:solidFill>
                <a:latin typeface="Arial"/>
                <a:ea typeface="Arial"/>
                <a:cs typeface="Arial"/>
              </a:defRPr>
            </a:lvl5pPr>
            <a:lvl6pPr>
              <a:defRPr sz="1800" b="0">
                <a:solidFill>
                  <a:srgbClr val="173A31"/>
                </a:solidFill>
                <a:latin typeface="Arial"/>
                <a:ea typeface="Arial"/>
                <a:cs typeface="Arial"/>
              </a:defRPr>
            </a:lvl6pPr>
            <a:lvl7pPr>
              <a:defRPr sz="1800" b="0">
                <a:solidFill>
                  <a:srgbClr val="173A31"/>
                </a:solidFill>
                <a:latin typeface="Arial"/>
                <a:ea typeface="Arial"/>
                <a:cs typeface="Arial"/>
              </a:defRPr>
            </a:lvl7pPr>
            <a:lvl8pPr>
              <a:defRPr sz="1800" b="0">
                <a:solidFill>
                  <a:srgbClr val="173A31"/>
                </a:solidFill>
                <a:latin typeface="Arial"/>
                <a:ea typeface="Arial"/>
                <a:cs typeface="Arial"/>
              </a:defRPr>
            </a:lvl8pPr>
            <a:lvl9pPr>
              <a:defRPr sz="1800" b="0">
                <a:solidFill>
                  <a:srgbClr val="173A31"/>
                </a:solidFill>
                <a:latin typeface="Arial"/>
                <a:ea typeface="Arial"/>
                <a:cs typeface="Arial"/>
              </a:defRPr>
            </a:lvl9pPr>
          </a:lstStyle>
          <a:p xmlns:a="http://schemas.openxmlformats.org/drawingml/2006/main">
            <a:pPr>
              <a:defRPr sz="1800" b="0">
                <a:solidFill>
                  <a:srgbClr val="173A31"/>
                </a:solidFill>
                <a:latin typeface="Arial"/>
                <a:ea typeface="Arial"/>
                <a:cs typeface="Arial"/>
              </a:defRPr>
            </a:pPr>
            <a:r>
              <a:rPr sz="1800" b="0">
                <a:solidFill>
                  <a:srgbClr val="173A31"/>
                </a:solidFill>
                <a:latin typeface="Arial"/>
                <a:ea typeface="Arial"/>
                <a:cs typeface="Arial"/>
              </a:rPr>
              <a:t>Upload a synthetic CSV</a:t>
            </a:r>
          </a:p>
          <a:p xmlns:a="http://schemas.openxmlformats.org/drawingml/2006/main">
            <a:r>
              <a:t/>
            </a:r>
          </a:p>
          <a:p xmlns:a="http://schemas.openxmlformats.org/drawingml/2006/main">
            <a:pPr>
              <a:defRPr sz="1800" b="0">
                <a:solidFill>
                  <a:srgbClr val="173A31"/>
                </a:solidFill>
                <a:latin typeface="Arial"/>
                <a:ea typeface="Arial"/>
                <a:cs typeface="Arial"/>
              </a:defRPr>
            </a:pPr>
            <a:r>
              <a:rPr sz="1800" b="0">
                <a:solidFill>
                  <a:srgbClr val="173A31"/>
                </a:solidFill>
                <a:latin typeface="Arial"/>
                <a:ea typeface="Arial"/>
                <a:cs typeface="Arial"/>
              </a:rPr>
              <a:t>Inspect matched words</a:t>
            </a:r>
          </a:p>
          <a:p xmlns:a="http://schemas.openxmlformats.org/drawingml/2006/main">
            <a:r>
              <a:t/>
            </a:r>
          </a:p>
          <a:p xmlns:a="http://schemas.openxmlformats.org/drawingml/2006/main">
            <a:pPr>
              <a:defRPr sz="1800" b="0">
                <a:solidFill>
                  <a:srgbClr val="173A31"/>
                </a:solidFill>
                <a:latin typeface="Arial"/>
                <a:ea typeface="Arial"/>
                <a:cs typeface="Arial"/>
              </a:defRPr>
            </a:pPr>
            <a:r>
              <a:rPr sz="1800" b="0">
                <a:solidFill>
                  <a:srgbClr val="173A31"/>
                </a:solidFill>
                <a:latin typeface="Arial"/>
                <a:ea typeface="Arial"/>
                <a:cs typeface="Arial"/>
              </a:rPr>
              <a:t>Review ambiguous events</a:t>
            </a:r>
          </a:p>
          <a:p xmlns:a="http://schemas.openxmlformats.org/drawingml/2006/main">
            <a:r>
              <a:t/>
            </a:r>
          </a:p>
          <a:p xmlns:a="http://schemas.openxmlformats.org/drawingml/2006/main">
            <a:pPr>
              <a:defRPr sz="1800" b="0">
                <a:solidFill>
                  <a:srgbClr val="173A31"/>
                </a:solidFill>
                <a:latin typeface="Arial"/>
                <a:ea typeface="Arial"/>
                <a:cs typeface="Arial"/>
              </a:defRPr>
            </a:pPr>
            <a:r>
              <a:rPr sz="1800" b="0">
                <a:solidFill>
                  <a:srgbClr val="173A31"/>
                </a:solidFill>
                <a:latin typeface="Arial"/>
                <a:ea typeface="Arial"/>
                <a:cs typeface="Arial"/>
              </a:rPr>
              <a:t>Compare scenarios</a:t>
            </a:r>
          </a:p>
          <a:p xmlns:a="http://schemas.openxmlformats.org/drawingml/2006/main">
            <a:r>
              <a:t/>
            </a:r>
          </a:p>
          <a:p xmlns:a="http://schemas.openxmlformats.org/drawingml/2006/main">
            <a:pPr>
              <a:defRPr sz="1800" b="0">
                <a:solidFill>
                  <a:srgbClr val="173A31"/>
                </a:solidFill>
                <a:latin typeface="Arial"/>
                <a:ea typeface="Arial"/>
                <a:cs typeface="Arial"/>
              </a:defRPr>
            </a:pPr>
            <a:r>
              <a:rPr sz="1800" b="0">
                <a:solidFill>
                  <a:srgbClr val="173A31"/>
                </a:solidFill>
                <a:latin typeface="Arial"/>
                <a:ea typeface="Arial"/>
                <a:cs typeface="Arial"/>
              </a:rPr>
              <a:t>Export a complete audit</a:t>
            </a:r>
          </a:p>
        </p:txBody>
      </p:sp>
    </p:spTree>
    <p:extLst>
      <p:ext uri="{BB962C8B-B14F-4D97-AF65-F5344CB8AC3E}">
        <p14:creationId xmlns:p14="http://schemas.microsoft.com/office/powerpoint/2010/main" val="1411211521"/>
      </p:ext>
    </p:extLst>
  </p:cSld>
</p:sld>
</file>

<file path=ppt/slides/slide5.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317A8F-5438-471F-969E-ED58F37FD6A8}"/>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A31"/>
                </a:solidFill>
                <a:latin typeface="Arial"/>
                <a:ea typeface="Arial"/>
                <a:cs typeface="Arial"/>
              </a:defRPr>
            </a:defPPr>
            <a:lvl1pPr>
              <a:defRPr sz="3300" b="1">
                <a:solidFill>
                  <a:srgbClr val="173A31"/>
                </a:solidFill>
                <a:latin typeface="Arial"/>
                <a:ea typeface="Arial"/>
                <a:cs typeface="Arial"/>
              </a:defRPr>
            </a:lvl1pPr>
            <a:lvl2pPr>
              <a:defRPr sz="3300" b="1">
                <a:solidFill>
                  <a:srgbClr val="173A31"/>
                </a:solidFill>
                <a:latin typeface="Arial"/>
                <a:ea typeface="Arial"/>
                <a:cs typeface="Arial"/>
              </a:defRPr>
            </a:lvl2pPr>
            <a:lvl3pPr>
              <a:defRPr sz="3300" b="1">
                <a:solidFill>
                  <a:srgbClr val="173A31"/>
                </a:solidFill>
                <a:latin typeface="Arial"/>
                <a:ea typeface="Arial"/>
                <a:cs typeface="Arial"/>
              </a:defRPr>
            </a:lvl3pPr>
            <a:lvl4pPr>
              <a:defRPr sz="3300" b="1">
                <a:solidFill>
                  <a:srgbClr val="173A31"/>
                </a:solidFill>
                <a:latin typeface="Arial"/>
                <a:ea typeface="Arial"/>
                <a:cs typeface="Arial"/>
              </a:defRPr>
            </a:lvl4pPr>
            <a:lvl5pPr>
              <a:defRPr sz="3300" b="1">
                <a:solidFill>
                  <a:srgbClr val="173A31"/>
                </a:solidFill>
                <a:latin typeface="Arial"/>
                <a:ea typeface="Arial"/>
                <a:cs typeface="Arial"/>
              </a:defRPr>
            </a:lvl5pPr>
            <a:lvl6pPr>
              <a:defRPr sz="3300" b="1">
                <a:solidFill>
                  <a:srgbClr val="173A31"/>
                </a:solidFill>
                <a:latin typeface="Arial"/>
                <a:ea typeface="Arial"/>
                <a:cs typeface="Arial"/>
              </a:defRPr>
            </a:lvl6pPr>
            <a:lvl7pPr>
              <a:defRPr sz="3300" b="1">
                <a:solidFill>
                  <a:srgbClr val="173A31"/>
                </a:solidFill>
                <a:latin typeface="Arial"/>
                <a:ea typeface="Arial"/>
                <a:cs typeface="Arial"/>
              </a:defRPr>
            </a:lvl7pPr>
            <a:lvl8pPr>
              <a:defRPr sz="3300" b="1">
                <a:solidFill>
                  <a:srgbClr val="173A31"/>
                </a:solidFill>
                <a:latin typeface="Arial"/>
                <a:ea typeface="Arial"/>
                <a:cs typeface="Arial"/>
              </a:defRPr>
            </a:lvl8pPr>
            <a:lvl9pPr>
              <a:defRPr sz="3300" b="1">
                <a:solidFill>
                  <a:srgbClr val="173A31"/>
                </a:solidFill>
                <a:latin typeface="Arial"/>
                <a:ea typeface="Arial"/>
                <a:cs typeface="Arial"/>
              </a:defRPr>
            </a:lvl9pPr>
          </a:lstStyle>
          <a:p xmlns:a="http://schemas.openxmlformats.org/drawingml/2006/main">
            <a:pPr>
              <a:defRPr sz="3300" b="1">
                <a:solidFill>
                  <a:srgbClr val="173A31"/>
                </a:solidFill>
                <a:latin typeface="Arial"/>
                <a:ea typeface="Arial"/>
                <a:cs typeface="Arial"/>
              </a:defRPr>
            </a:pPr>
            <a:r>
              <a:rPr sz="3300" b="1">
                <a:solidFill>
                  <a:srgbClr val="173A31"/>
                </a:solidFill>
                <a:latin typeface="Arial"/>
                <a:ea typeface="Arial"/>
                <a:cs typeface="Arial"/>
              </a:rPr>
              <a:t>Issuer scope changes the result</a:t>
            </a:r>
          </a:p>
        </p:txBody>
      </p:sp>
      <p:sp>
        <p:nvSpPr>
          <p:cNvPr id="2" name="">
            <a:extLst xmlns:a="http://schemas.openxmlformats.org/drawingml/2006/main">
              <a:ext uri="{FF2B5EF4-FFF2-40B4-BE49-F238E27FC236}">
                <a16:creationId xmlns:a16="http://schemas.microsoft.com/office/drawing/2014/main" id="{9417EB25-0240-4A27-A367-B2FAD3236FC6}"/>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5D"/>
                </a:solidFill>
                <a:latin typeface="Arial"/>
                <a:ea typeface="Arial"/>
                <a:cs typeface="Arial"/>
              </a:defRPr>
            </a:defPPr>
            <a:lvl1pPr>
              <a:defRPr sz="1275" b="0">
                <a:solidFill>
                  <a:srgbClr val="53675D"/>
                </a:solidFill>
                <a:latin typeface="Arial"/>
                <a:ea typeface="Arial"/>
                <a:cs typeface="Arial"/>
              </a:defRPr>
            </a:lvl1pPr>
            <a:lvl2pPr>
              <a:defRPr sz="1275" b="0">
                <a:solidFill>
                  <a:srgbClr val="53675D"/>
                </a:solidFill>
                <a:latin typeface="Arial"/>
                <a:ea typeface="Arial"/>
                <a:cs typeface="Arial"/>
              </a:defRPr>
            </a:lvl2pPr>
            <a:lvl3pPr>
              <a:defRPr sz="1275" b="0">
                <a:solidFill>
                  <a:srgbClr val="53675D"/>
                </a:solidFill>
                <a:latin typeface="Arial"/>
                <a:ea typeface="Arial"/>
                <a:cs typeface="Arial"/>
              </a:defRPr>
            </a:lvl3pPr>
            <a:lvl4pPr>
              <a:defRPr sz="1275" b="0">
                <a:solidFill>
                  <a:srgbClr val="53675D"/>
                </a:solidFill>
                <a:latin typeface="Arial"/>
                <a:ea typeface="Arial"/>
                <a:cs typeface="Arial"/>
              </a:defRPr>
            </a:lvl4pPr>
            <a:lvl5pPr>
              <a:defRPr sz="1275" b="0">
                <a:solidFill>
                  <a:srgbClr val="53675D"/>
                </a:solidFill>
                <a:latin typeface="Arial"/>
                <a:ea typeface="Arial"/>
                <a:cs typeface="Arial"/>
              </a:defRPr>
            </a:lvl5pPr>
            <a:lvl6pPr>
              <a:defRPr sz="1275" b="0">
                <a:solidFill>
                  <a:srgbClr val="53675D"/>
                </a:solidFill>
                <a:latin typeface="Arial"/>
                <a:ea typeface="Arial"/>
                <a:cs typeface="Arial"/>
              </a:defRPr>
            </a:lvl6pPr>
            <a:lvl7pPr>
              <a:defRPr sz="1275" b="0">
                <a:solidFill>
                  <a:srgbClr val="53675D"/>
                </a:solidFill>
                <a:latin typeface="Arial"/>
                <a:ea typeface="Arial"/>
                <a:cs typeface="Arial"/>
              </a:defRPr>
            </a:lvl7pPr>
            <a:lvl8pPr>
              <a:defRPr sz="1275" b="0">
                <a:solidFill>
                  <a:srgbClr val="53675D"/>
                </a:solidFill>
                <a:latin typeface="Arial"/>
                <a:ea typeface="Arial"/>
                <a:cs typeface="Arial"/>
              </a:defRPr>
            </a:lvl8pPr>
            <a:lvl9pPr>
              <a:defRPr sz="1275" b="0">
                <a:solidFill>
                  <a:srgbClr val="53675D"/>
                </a:solidFill>
                <a:latin typeface="Arial"/>
                <a:ea typeface="Arial"/>
                <a:cs typeface="Arial"/>
              </a:defRPr>
            </a:lvl9pPr>
          </a:lstStyle>
          <a:p xmlns:a="http://schemas.openxmlformats.org/drawingml/2006/main">
            <a:pPr>
              <a:defRPr sz="1275" b="0">
                <a:solidFill>
                  <a:srgbClr val="53675D"/>
                </a:solidFill>
                <a:latin typeface="Arial"/>
                <a:ea typeface="Arial"/>
                <a:cs typeface="Arial"/>
              </a:defRPr>
            </a:pPr>
            <a:r>
              <a:rPr sz="1275" b="0">
                <a:solidFill>
                  <a:srgbClr val="53675D"/>
                </a:solidFill>
                <a:latin typeface="Arial"/>
                <a:ea typeface="Arial"/>
                <a:cs typeface="Arial"/>
              </a:rPr>
              <a:t>5 / 7</a:t>
            </a:r>
          </a:p>
        </p:txBody>
      </p:sp>
      <p:sp>
        <p:nvSpPr>
          <p:cNvPr id="3" name="">
            <a:extLst xmlns:a="http://schemas.openxmlformats.org/drawingml/2006/main">
              <a:ext uri="{FF2B5EF4-FFF2-40B4-BE49-F238E27FC236}">
                <a16:creationId xmlns:a16="http://schemas.microsoft.com/office/drawing/2014/main" id="{A89DE8E1-397D-4507-9079-9F24ECCFCACB}"/>
              </a:ext>
            </a:extLst>
          </p:cNvPr>
          <p:cNvSpPr>
            <a:spLocks xmlns:a="http://schemas.openxmlformats.org/drawingml/2006/main" noGrp="1"/>
          </p:cNvSpPr>
          <p:nvPr/>
        </p:nvSpPr>
        <p:spPr>
          <a:xfrm xmlns:a="http://schemas.openxmlformats.org/drawingml/2006/main">
            <a:off x="609600" y="13620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3675D"/>
                </a:solidFill>
                <a:latin typeface="Arial"/>
                <a:ea typeface="Arial"/>
                <a:cs typeface="Arial"/>
              </a:defRPr>
            </a:defPPr>
            <a:lvl1pPr>
              <a:defRPr sz="1875" b="0">
                <a:solidFill>
                  <a:srgbClr val="53675D"/>
                </a:solidFill>
                <a:latin typeface="Arial"/>
                <a:ea typeface="Arial"/>
                <a:cs typeface="Arial"/>
              </a:defRPr>
            </a:lvl1pPr>
            <a:lvl2pPr>
              <a:defRPr sz="1875" b="0">
                <a:solidFill>
                  <a:srgbClr val="53675D"/>
                </a:solidFill>
                <a:latin typeface="Arial"/>
                <a:ea typeface="Arial"/>
                <a:cs typeface="Arial"/>
              </a:defRPr>
            </a:lvl2pPr>
            <a:lvl3pPr>
              <a:defRPr sz="1875" b="0">
                <a:solidFill>
                  <a:srgbClr val="53675D"/>
                </a:solidFill>
                <a:latin typeface="Arial"/>
                <a:ea typeface="Arial"/>
                <a:cs typeface="Arial"/>
              </a:defRPr>
            </a:lvl3pPr>
            <a:lvl4pPr>
              <a:defRPr sz="1875" b="0">
                <a:solidFill>
                  <a:srgbClr val="53675D"/>
                </a:solidFill>
                <a:latin typeface="Arial"/>
                <a:ea typeface="Arial"/>
                <a:cs typeface="Arial"/>
              </a:defRPr>
            </a:lvl4pPr>
            <a:lvl5pPr>
              <a:defRPr sz="1875" b="0">
                <a:solidFill>
                  <a:srgbClr val="53675D"/>
                </a:solidFill>
                <a:latin typeface="Arial"/>
                <a:ea typeface="Arial"/>
                <a:cs typeface="Arial"/>
              </a:defRPr>
            </a:lvl5pPr>
            <a:lvl6pPr>
              <a:defRPr sz="1875" b="0">
                <a:solidFill>
                  <a:srgbClr val="53675D"/>
                </a:solidFill>
                <a:latin typeface="Arial"/>
                <a:ea typeface="Arial"/>
                <a:cs typeface="Arial"/>
              </a:defRPr>
            </a:lvl6pPr>
            <a:lvl7pPr>
              <a:defRPr sz="1875" b="0">
                <a:solidFill>
                  <a:srgbClr val="53675D"/>
                </a:solidFill>
                <a:latin typeface="Arial"/>
                <a:ea typeface="Arial"/>
                <a:cs typeface="Arial"/>
              </a:defRPr>
            </a:lvl7pPr>
            <a:lvl8pPr>
              <a:defRPr sz="1875" b="0">
                <a:solidFill>
                  <a:srgbClr val="53675D"/>
                </a:solidFill>
                <a:latin typeface="Arial"/>
                <a:ea typeface="Arial"/>
                <a:cs typeface="Arial"/>
              </a:defRPr>
            </a:lvl8pPr>
            <a:lvl9pPr>
              <a:defRPr sz="1875" b="0">
                <a:solidFill>
                  <a:srgbClr val="53675D"/>
                </a:solidFill>
                <a:latin typeface="Arial"/>
                <a:ea typeface="Arial"/>
                <a:cs typeface="Arial"/>
              </a:defRPr>
            </a:lvl9pPr>
          </a:lstStyle>
          <a:p xmlns:a="http://schemas.openxmlformats.org/drawingml/2006/main">
            <a:pPr>
              <a:defRPr sz="1875" b="0">
                <a:solidFill>
                  <a:srgbClr val="53675D"/>
                </a:solidFill>
                <a:latin typeface="Arial"/>
                <a:ea typeface="Arial"/>
                <a:cs typeface="Arial"/>
              </a:defRPr>
            </a:pPr>
            <a:r>
              <a:rPr sz="1875" b="0">
                <a:solidFill>
                  <a:srgbClr val="53675D"/>
                </a:solidFill>
                <a:latin typeface="Arial"/>
                <a:ea typeface="Arial"/>
                <a:cs typeface="Arial"/>
              </a:rPr>
              <a:t>Bank default scenario / intensity 9 / USD 1.15m synthetic portfolio</a:t>
            </a:r>
          </a:p>
        </p:txBody>
      </p:sp>
      <p:graphicFrame>
        <p:nvGraphicFramePr>
          <p:cNvPr id="4" name="">
            <a:extLst xmlns:a="http://schemas.openxmlformats.org/drawingml/2006/main">
              <a:ext uri="{FF2B5EF4-FFF2-40B4-BE49-F238E27FC236}">
                <a16:creationId xmlns:a16="http://schemas.microsoft.com/office/drawing/2014/main" id="{DFF379B7-DF5F-4C46-A6B5-EA527032AEE6}"/>
              </a:ext>
            </a:extLst>
          </p:cNvPr>
          <p:cNvGraphicFramePr/>
          <p:nvPr/>
        </p:nvGraphicFramePr>
        <p:xfrm>
          <a:off xmlns:a="http://schemas.openxmlformats.org/drawingml/2006/main" x="609600" y="2190750"/>
          <a:ext xmlns:a="http://schemas.openxmlformats.org/drawingml/2006/main" cx="10972800" cy="2428875"/>
        </p:xfrm>
        <a:graphic xmlns:a="http://schemas.openxmlformats.org/drawingml/2006/main">
          <a:graphicData uri="http://schemas.openxmlformats.org/drawingml/2006/table">
            <a:tbl>
              <a:tblPr/>
              <a:tblGrid>
                <a:gridCol w="3524250"/>
                <a:gridCol w="2381250"/>
                <a:gridCol w="2381250"/>
                <a:gridCol w="2686050"/>
              </a:tblGrid>
              <a:tr h="607219">
                <a:tc>
                  <a:txBody>
                    <a:bodyPr/>
                    <a:lstStyle/>
                    <a:p>
                      <a:r>
                        <a:rPr sz="1725" b="1">
                          <a:solidFill>
                            <a:srgbClr val="FFFFFF"/>
                          </a:solidFill>
                          <a:latin typeface="Arial"/>
                          <a:ea typeface="Arial"/>
                          <a:cs typeface="Arial"/>
                        </a:rPr>
                        <a:t>Bank position</a:t>
                      </a:r>
                    </a:p>
                  </a:txBody>
                  <a:tcPr marL="91440" marR="91440" marT="45720" marB="45720">
                    <a:lnL w="19050">
                      <a:solidFill>
                        <a:srgbClr val="F7F4EC"/>
                      </a:solidFill>
                    </a:lnL>
                    <a:lnR w="19050">
                      <a:solidFill>
                        <a:srgbClr val="F7F4EC"/>
                      </a:solidFill>
                    </a:lnR>
                    <a:lnT w="19050">
                      <a:solidFill>
                        <a:srgbClr val="F7F4EC"/>
                      </a:solidFill>
                    </a:lnT>
                    <a:lnB w="19050">
                      <a:solidFill>
                        <a:srgbClr val="F7F4EC"/>
                      </a:solidFill>
                    </a:lnB>
                    <a:solidFill>
                      <a:srgbClr val="285B4A"/>
                    </a:solidFill>
                  </a:tcPr>
                </a:tc>
                <a:tc>
                  <a:txBody>
                    <a:bodyPr/>
                    <a:lstStyle/>
                    <a:p>
                      <a:r>
                        <a:rPr sz="1725" b="1">
                          <a:solidFill>
                            <a:srgbClr val="FFFFFF"/>
                          </a:solidFill>
                          <a:latin typeface="Arial"/>
                          <a:ea typeface="Arial"/>
                          <a:cs typeface="Arial"/>
                        </a:rPr>
                        <a:t>Market value</a:t>
                      </a:r>
                    </a:p>
                  </a:txBody>
                  <a:tcPr marL="91440" marR="91440" marT="45720" marB="45720">
                    <a:lnR w="19050">
                      <a:solidFill>
                        <a:srgbClr val="F7F4EC"/>
                      </a:solidFill>
                    </a:lnR>
                    <a:lnT w="19050">
                      <a:solidFill>
                        <a:srgbClr val="F7F4EC"/>
                      </a:solidFill>
                    </a:lnT>
                    <a:lnB w="19050">
                      <a:solidFill>
                        <a:srgbClr val="F7F4EC"/>
                      </a:solidFill>
                    </a:lnB>
                    <a:solidFill>
                      <a:srgbClr val="285B4A"/>
                    </a:solidFill>
                  </a:tcPr>
                </a:tc>
                <a:tc>
                  <a:txBody>
                    <a:bodyPr/>
                    <a:lstStyle/>
                    <a:p>
                      <a:r>
                        <a:rPr sz="1725" b="1">
                          <a:solidFill>
                            <a:srgbClr val="FFFFFF"/>
                          </a:solidFill>
                          <a:latin typeface="Arial"/>
                          <a:ea typeface="Arial"/>
                          <a:cs typeface="Arial"/>
                        </a:rPr>
                        <a:t>Applied shock</a:t>
                      </a:r>
                    </a:p>
                  </a:txBody>
                  <a:tcPr marL="91440" marR="91440" marT="45720" marB="45720">
                    <a:lnR w="19050">
                      <a:solidFill>
                        <a:srgbClr val="F7F4EC"/>
                      </a:solidFill>
                    </a:lnR>
                    <a:lnT w="19050">
                      <a:solidFill>
                        <a:srgbClr val="F7F4EC"/>
                      </a:solidFill>
                    </a:lnT>
                    <a:lnB w="19050">
                      <a:solidFill>
                        <a:srgbClr val="F7F4EC"/>
                      </a:solidFill>
                    </a:lnB>
                    <a:solidFill>
                      <a:srgbClr val="285B4A"/>
                    </a:solidFill>
                  </a:tcPr>
                </a:tc>
                <a:tc>
                  <a:txBody>
                    <a:bodyPr/>
                    <a:lstStyle/>
                    <a:p>
                      <a:r>
                        <a:rPr sz="1725" b="1">
                          <a:solidFill>
                            <a:srgbClr val="FFFFFF"/>
                          </a:solidFill>
                          <a:latin typeface="Arial"/>
                          <a:ea typeface="Arial"/>
                          <a:cs typeface="Arial"/>
                        </a:rPr>
                        <a:t>Simulated P&amp;L</a:t>
                      </a:r>
                    </a:p>
                  </a:txBody>
                  <a:tcPr marL="91440" marR="91440" marT="45720" marB="45720">
                    <a:lnR w="19050">
                      <a:solidFill>
                        <a:srgbClr val="F7F4EC"/>
                      </a:solidFill>
                    </a:lnR>
                    <a:lnT w="19050">
                      <a:solidFill>
                        <a:srgbClr val="F7F4EC"/>
                      </a:solidFill>
                    </a:lnT>
                    <a:lnB w="19050">
                      <a:solidFill>
                        <a:srgbClr val="F7F4EC"/>
                      </a:solidFill>
                    </a:lnB>
                    <a:solidFill>
                      <a:srgbClr val="285B4A"/>
                    </a:solidFill>
                  </a:tcPr>
                </a:tc>
              </a:tr>
              <a:tr h="607219">
                <a:tc>
                  <a:txBody>
                    <a:bodyPr/>
                    <a:lstStyle/>
                    <a:p>
                      <a:r>
                        <a:rPr sz="1725" b="0">
                          <a:solidFill>
                            <a:srgbClr val="173A31"/>
                          </a:solidFill>
                          <a:latin typeface="Arial"/>
                          <a:ea typeface="Arial"/>
                          <a:cs typeface="Arial"/>
                        </a:rPr>
                        <a:t>Banking equity</a:t>
                      </a:r>
                    </a:p>
                  </a:txBody>
                  <a:tcPr marL="91440" marR="91440" marT="45720" marB="45720">
                    <a:lnL w="19050">
                      <a:solidFill>
                        <a:srgbClr val="F7F4EC"/>
                      </a:solidFill>
                    </a:lnL>
                    <a:lnR w="19050">
                      <a:solidFill>
                        <a:srgbClr val="F7F4EC"/>
                      </a:solidFill>
                    </a:lnR>
                    <a:lnB w="19050">
                      <a:solidFill>
                        <a:srgbClr val="F7F4EC"/>
                      </a:solidFill>
                    </a:lnB>
                    <a:solidFill>
                      <a:srgbClr val="DCE9DF"/>
                    </a:solidFill>
                  </a:tcPr>
                </a:tc>
                <a:tc>
                  <a:txBody>
                    <a:bodyPr/>
                    <a:lstStyle/>
                    <a:p>
                      <a:r>
                        <a:rPr sz="1725" b="0">
                          <a:solidFill>
                            <a:srgbClr val="173A31"/>
                          </a:solidFill>
                          <a:latin typeface="Arial"/>
                          <a:ea typeface="Arial"/>
                          <a:cs typeface="Arial"/>
                        </a:rPr>
                        <a:t>$200,000</a:t>
                      </a:r>
                    </a:p>
                  </a:txBody>
                  <a:tcPr marL="91440" marR="91440" marT="45720" marB="45720">
                    <a:lnR w="19050">
                      <a:solidFill>
                        <a:srgbClr val="F7F4EC"/>
                      </a:solidFill>
                    </a:lnR>
                    <a:lnB w="19050">
                      <a:solidFill>
                        <a:srgbClr val="F7F4EC"/>
                      </a:solidFill>
                    </a:lnB>
                    <a:solidFill>
                      <a:srgbClr val="DCE9DF"/>
                    </a:solidFill>
                  </a:tcPr>
                </a:tc>
                <a:tc>
                  <a:txBody>
                    <a:bodyPr/>
                    <a:lstStyle/>
                    <a:p>
                      <a:r>
                        <a:rPr sz="1725" b="0">
                          <a:solidFill>
                            <a:srgbClr val="173A31"/>
                          </a:solidFill>
                          <a:latin typeface="Arial"/>
                          <a:ea typeface="Arial"/>
                          <a:cs typeface="Arial"/>
                        </a:rPr>
                        <a:t>−10.8%</a:t>
                      </a:r>
                    </a:p>
                  </a:txBody>
                  <a:tcPr marL="91440" marR="91440" marT="45720" marB="45720">
                    <a:lnR w="19050">
                      <a:solidFill>
                        <a:srgbClr val="F7F4EC"/>
                      </a:solidFill>
                    </a:lnR>
                    <a:lnB w="19050">
                      <a:solidFill>
                        <a:srgbClr val="F7F4EC"/>
                      </a:solidFill>
                    </a:lnB>
                    <a:solidFill>
                      <a:srgbClr val="DCE9DF"/>
                    </a:solidFill>
                  </a:tcPr>
                </a:tc>
                <a:tc>
                  <a:txBody>
                    <a:bodyPr/>
                    <a:lstStyle/>
                    <a:p>
                      <a:r>
                        <a:rPr sz="1725" b="0">
                          <a:solidFill>
                            <a:srgbClr val="173A31"/>
                          </a:solidFill>
                          <a:latin typeface="Arial"/>
                          <a:ea typeface="Arial"/>
                          <a:cs typeface="Arial"/>
                        </a:rPr>
                        <a:t>−$21,600</a:t>
                      </a:r>
                    </a:p>
                  </a:txBody>
                  <a:tcPr marL="91440" marR="91440" marT="45720" marB="45720">
                    <a:lnR w="19050">
                      <a:solidFill>
                        <a:srgbClr val="F7F4EC"/>
                      </a:solidFill>
                    </a:lnR>
                    <a:lnB w="19050">
                      <a:solidFill>
                        <a:srgbClr val="F7F4EC"/>
                      </a:solidFill>
                    </a:lnB>
                    <a:solidFill>
                      <a:srgbClr val="DCE9DF"/>
                    </a:solidFill>
                  </a:tcPr>
                </a:tc>
              </a:tr>
              <a:tr h="607219">
                <a:tc>
                  <a:txBody>
                    <a:bodyPr/>
                    <a:lstStyle/>
                    <a:p>
                      <a:r>
                        <a:rPr sz="1725" b="0">
                          <a:solidFill>
                            <a:srgbClr val="173A31"/>
                          </a:solidFill>
                          <a:latin typeface="Arial"/>
                          <a:ea typeface="Arial"/>
                          <a:cs typeface="Arial"/>
                        </a:rPr>
                        <a:t>Bank loan</a:t>
                      </a:r>
                    </a:p>
                  </a:txBody>
                  <a:tcPr marL="91440" marR="91440" marT="45720" marB="45720">
                    <a:lnL w="19050">
                      <a:solidFill>
                        <a:srgbClr val="F7F4EC"/>
                      </a:solidFill>
                    </a:lnL>
                    <a:lnR w="19050">
                      <a:solidFill>
                        <a:srgbClr val="F7F4EC"/>
                      </a:solidFill>
                    </a:lnR>
                    <a:lnB w="19050">
                      <a:solidFill>
                        <a:srgbClr val="F7F4EC"/>
                      </a:solidFill>
                    </a:lnB>
                    <a:solidFill>
                      <a:srgbClr val="F7F4EC"/>
                    </a:solidFill>
                  </a:tcPr>
                </a:tc>
                <a:tc>
                  <a:txBody>
                    <a:bodyPr/>
                    <a:lstStyle/>
                    <a:p>
                      <a:r>
                        <a:rPr sz="1725" b="0">
                          <a:solidFill>
                            <a:srgbClr val="173A31"/>
                          </a:solidFill>
                          <a:latin typeface="Arial"/>
                          <a:ea typeface="Arial"/>
                          <a:cs typeface="Arial"/>
                        </a:rPr>
                        <a:t>$250,000</a:t>
                      </a:r>
                    </a:p>
                  </a:txBody>
                  <a:tcPr marL="91440" marR="91440" marT="45720" marB="45720">
                    <a:lnR w="19050">
                      <a:solidFill>
                        <a:srgbClr val="F7F4EC"/>
                      </a:solidFill>
                    </a:lnR>
                    <a:lnB w="19050">
                      <a:solidFill>
                        <a:srgbClr val="F7F4EC"/>
                      </a:solidFill>
                    </a:lnB>
                    <a:solidFill>
                      <a:srgbClr val="F7F4EC"/>
                    </a:solidFill>
                  </a:tcPr>
                </a:tc>
                <a:tc>
                  <a:txBody>
                    <a:bodyPr/>
                    <a:lstStyle/>
                    <a:p>
                      <a:r>
                        <a:rPr sz="1725" b="0">
                          <a:solidFill>
                            <a:srgbClr val="173A31"/>
                          </a:solidFill>
                          <a:latin typeface="Arial"/>
                          <a:ea typeface="Arial"/>
                          <a:cs typeface="Arial"/>
                        </a:rPr>
                        <a:t>−13.5%</a:t>
                      </a:r>
                    </a:p>
                  </a:txBody>
                  <a:tcPr marL="91440" marR="91440" marT="45720" marB="45720">
                    <a:lnR w="19050">
                      <a:solidFill>
                        <a:srgbClr val="F7F4EC"/>
                      </a:solidFill>
                    </a:lnR>
                    <a:lnB w="19050">
                      <a:solidFill>
                        <a:srgbClr val="F7F4EC"/>
                      </a:solidFill>
                    </a:lnB>
                    <a:solidFill>
                      <a:srgbClr val="F7F4EC"/>
                    </a:solidFill>
                  </a:tcPr>
                </a:tc>
                <a:tc>
                  <a:txBody>
                    <a:bodyPr/>
                    <a:lstStyle/>
                    <a:p>
                      <a:r>
                        <a:rPr sz="1725" b="0">
                          <a:solidFill>
                            <a:srgbClr val="173A31"/>
                          </a:solidFill>
                          <a:latin typeface="Arial"/>
                          <a:ea typeface="Arial"/>
                          <a:cs typeface="Arial"/>
                        </a:rPr>
                        <a:t>−$33,750</a:t>
                      </a:r>
                    </a:p>
                  </a:txBody>
                  <a:tcPr marL="91440" marR="91440" marT="45720" marB="45720">
                    <a:lnR w="19050">
                      <a:solidFill>
                        <a:srgbClr val="F7F4EC"/>
                      </a:solidFill>
                    </a:lnR>
                    <a:lnB w="19050">
                      <a:solidFill>
                        <a:srgbClr val="F7F4EC"/>
                      </a:solidFill>
                    </a:lnB>
                    <a:solidFill>
                      <a:srgbClr val="F7F4EC"/>
                    </a:solidFill>
                  </a:tcPr>
                </a:tc>
              </a:tr>
              <a:tr h="607219">
                <a:tc>
                  <a:txBody>
                    <a:bodyPr/>
                    <a:lstStyle/>
                    <a:p>
                      <a:r>
                        <a:rPr sz="1725" b="0">
                          <a:solidFill>
                            <a:srgbClr val="173A31"/>
                          </a:solidFill>
                          <a:latin typeface="Arial"/>
                          <a:ea typeface="Arial"/>
                          <a:cs typeface="Arial"/>
                        </a:rPr>
                        <a:t>Interest rate swap</a:t>
                      </a:r>
                    </a:p>
                  </a:txBody>
                  <a:tcPr marL="91440" marR="91440" marT="45720" marB="45720">
                    <a:lnL w="19050">
                      <a:solidFill>
                        <a:srgbClr val="F7F4EC"/>
                      </a:solidFill>
                    </a:lnL>
                    <a:lnR w="19050">
                      <a:solidFill>
                        <a:srgbClr val="F7F4EC"/>
                      </a:solidFill>
                    </a:lnR>
                    <a:lnB w="19050">
                      <a:solidFill>
                        <a:srgbClr val="F7F4EC"/>
                      </a:solidFill>
                    </a:lnB>
                    <a:solidFill>
                      <a:srgbClr val="DCE9DF"/>
                    </a:solidFill>
                  </a:tcPr>
                </a:tc>
                <a:tc>
                  <a:txBody>
                    <a:bodyPr/>
                    <a:lstStyle/>
                    <a:p>
                      <a:r>
                        <a:rPr sz="1725" b="0">
                          <a:solidFill>
                            <a:srgbClr val="173A31"/>
                          </a:solidFill>
                          <a:latin typeface="Arial"/>
                          <a:ea typeface="Arial"/>
                          <a:cs typeface="Arial"/>
                        </a:rPr>
                        <a:t>$100,000</a:t>
                      </a:r>
                    </a:p>
                  </a:txBody>
                  <a:tcPr marL="91440" marR="91440" marT="45720" marB="45720">
                    <a:lnR w="19050">
                      <a:solidFill>
                        <a:srgbClr val="F7F4EC"/>
                      </a:solidFill>
                    </a:lnR>
                    <a:lnB w="19050">
                      <a:solidFill>
                        <a:srgbClr val="F7F4EC"/>
                      </a:solidFill>
                    </a:lnB>
                    <a:solidFill>
                      <a:srgbClr val="DCE9DF"/>
                    </a:solidFill>
                  </a:tcPr>
                </a:tc>
                <a:tc>
                  <a:txBody>
                    <a:bodyPr/>
                    <a:lstStyle/>
                    <a:p>
                      <a:r>
                        <a:rPr sz="1725" b="0">
                          <a:solidFill>
                            <a:srgbClr val="173A31"/>
                          </a:solidFill>
                          <a:latin typeface="Arial"/>
                          <a:ea typeface="Arial"/>
                          <a:cs typeface="Arial"/>
                        </a:rPr>
                        <a:t>−7.2%</a:t>
                      </a:r>
                    </a:p>
                  </a:txBody>
                  <a:tcPr marL="91440" marR="91440" marT="45720" marB="45720">
                    <a:lnR w="19050">
                      <a:solidFill>
                        <a:srgbClr val="F7F4EC"/>
                      </a:solidFill>
                    </a:lnR>
                    <a:lnB w="19050">
                      <a:solidFill>
                        <a:srgbClr val="F7F4EC"/>
                      </a:solidFill>
                    </a:lnB>
                    <a:solidFill>
                      <a:srgbClr val="DCE9DF"/>
                    </a:solidFill>
                  </a:tcPr>
                </a:tc>
                <a:tc>
                  <a:txBody>
                    <a:bodyPr/>
                    <a:lstStyle/>
                    <a:p>
                      <a:r>
                        <a:rPr sz="1725" b="0">
                          <a:solidFill>
                            <a:srgbClr val="173A31"/>
                          </a:solidFill>
                          <a:latin typeface="Arial"/>
                          <a:ea typeface="Arial"/>
                          <a:cs typeface="Arial"/>
                        </a:rPr>
                        <a:t>−$7,200</a:t>
                      </a:r>
                    </a:p>
                  </a:txBody>
                  <a:tcPr marL="91440" marR="91440" marT="45720" marB="45720">
                    <a:lnR w="19050">
                      <a:solidFill>
                        <a:srgbClr val="F7F4EC"/>
                      </a:solidFill>
                    </a:lnR>
                    <a:lnB w="19050">
                      <a:solidFill>
                        <a:srgbClr val="F7F4EC"/>
                      </a:solidFill>
                    </a:lnB>
                    <a:solidFill>
                      <a:srgbClr val="DCE9DF"/>
                    </a:solidFill>
                  </a:tcPr>
                </a:tc>
              </a:tr>
            </a:tbl>
          </a:graphicData>
        </a:graphic>
      </p:graphicFrame>
      <p:sp>
        <p:nvSpPr>
          <p:cNvPr id="5" name="">
            <a:extLst xmlns:a="http://schemas.openxmlformats.org/drawingml/2006/main">
              <a:ext uri="{FF2B5EF4-FFF2-40B4-BE49-F238E27FC236}">
                <a16:creationId xmlns:a16="http://schemas.microsoft.com/office/drawing/2014/main" id="{B505A151-8857-40C5-AB79-B2D2A99E8479}"/>
              </a:ext>
            </a:extLst>
          </p:cNvPr>
          <p:cNvSpPr>
            <a:spLocks xmlns:a="http://schemas.openxmlformats.org/drawingml/2006/main" noGrp="1"/>
          </p:cNvSpPr>
          <p:nvPr/>
        </p:nvSpPr>
        <p:spPr>
          <a:xfrm xmlns:a="http://schemas.openxmlformats.org/drawingml/2006/main">
            <a:off x="609600" y="49625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125" b="1">
                <a:solidFill>
                  <a:srgbClr val="C66A4A"/>
                </a:solidFill>
                <a:latin typeface="Arial"/>
                <a:ea typeface="Arial"/>
                <a:cs typeface="Arial"/>
              </a:defRPr>
            </a:defPPr>
            <a:lvl1pPr>
              <a:defRPr sz="4125" b="1">
                <a:solidFill>
                  <a:srgbClr val="C66A4A"/>
                </a:solidFill>
                <a:latin typeface="Arial"/>
                <a:ea typeface="Arial"/>
                <a:cs typeface="Arial"/>
              </a:defRPr>
            </a:lvl1pPr>
            <a:lvl2pPr>
              <a:defRPr sz="4125" b="1">
                <a:solidFill>
                  <a:srgbClr val="C66A4A"/>
                </a:solidFill>
                <a:latin typeface="Arial"/>
                <a:ea typeface="Arial"/>
                <a:cs typeface="Arial"/>
              </a:defRPr>
            </a:lvl2pPr>
            <a:lvl3pPr>
              <a:defRPr sz="4125" b="1">
                <a:solidFill>
                  <a:srgbClr val="C66A4A"/>
                </a:solidFill>
                <a:latin typeface="Arial"/>
                <a:ea typeface="Arial"/>
                <a:cs typeface="Arial"/>
              </a:defRPr>
            </a:lvl3pPr>
            <a:lvl4pPr>
              <a:defRPr sz="4125" b="1">
                <a:solidFill>
                  <a:srgbClr val="C66A4A"/>
                </a:solidFill>
                <a:latin typeface="Arial"/>
                <a:ea typeface="Arial"/>
                <a:cs typeface="Arial"/>
              </a:defRPr>
            </a:lvl4pPr>
            <a:lvl5pPr>
              <a:defRPr sz="4125" b="1">
                <a:solidFill>
                  <a:srgbClr val="C66A4A"/>
                </a:solidFill>
                <a:latin typeface="Arial"/>
                <a:ea typeface="Arial"/>
                <a:cs typeface="Arial"/>
              </a:defRPr>
            </a:lvl5pPr>
            <a:lvl6pPr>
              <a:defRPr sz="4125" b="1">
                <a:solidFill>
                  <a:srgbClr val="C66A4A"/>
                </a:solidFill>
                <a:latin typeface="Arial"/>
                <a:ea typeface="Arial"/>
                <a:cs typeface="Arial"/>
              </a:defRPr>
            </a:lvl6pPr>
            <a:lvl7pPr>
              <a:defRPr sz="4125" b="1">
                <a:solidFill>
                  <a:srgbClr val="C66A4A"/>
                </a:solidFill>
                <a:latin typeface="Arial"/>
                <a:ea typeface="Arial"/>
                <a:cs typeface="Arial"/>
              </a:defRPr>
            </a:lvl7pPr>
            <a:lvl8pPr>
              <a:defRPr sz="4125" b="1">
                <a:solidFill>
                  <a:srgbClr val="C66A4A"/>
                </a:solidFill>
                <a:latin typeface="Arial"/>
                <a:ea typeface="Arial"/>
                <a:cs typeface="Arial"/>
              </a:defRPr>
            </a:lvl8pPr>
            <a:lvl9pPr>
              <a:defRPr sz="4125" b="1">
                <a:solidFill>
                  <a:srgbClr val="C66A4A"/>
                </a:solidFill>
                <a:latin typeface="Arial"/>
                <a:ea typeface="Arial"/>
                <a:cs typeface="Arial"/>
              </a:defRPr>
            </a:lvl9pPr>
          </a:lstStyle>
          <a:p xmlns:a="http://schemas.openxmlformats.org/drawingml/2006/main">
            <a:pPr>
              <a:defRPr sz="4125" b="1">
                <a:solidFill>
                  <a:srgbClr val="C66A4A"/>
                </a:solidFill>
                <a:latin typeface="Arial"/>
                <a:ea typeface="Arial"/>
                <a:cs typeface="Arial"/>
              </a:defRPr>
            </a:pPr>
            <a:r>
              <a:rPr sz="4125" b="1">
                <a:solidFill>
                  <a:srgbClr val="C66A4A"/>
                </a:solidFill>
                <a:latin typeface="Arial"/>
                <a:ea typeface="Arial"/>
                <a:cs typeface="Arial"/>
              </a:rPr>
              <a:t>−$62,550</a:t>
            </a:r>
          </a:p>
        </p:txBody>
      </p:sp>
      <p:sp>
        <p:nvSpPr>
          <p:cNvPr id="6" name="">
            <a:extLst xmlns:a="http://schemas.openxmlformats.org/drawingml/2006/main">
              <a:ext uri="{FF2B5EF4-FFF2-40B4-BE49-F238E27FC236}">
                <a16:creationId xmlns:a16="http://schemas.microsoft.com/office/drawing/2014/main" id="{478F6C95-1626-4E7E-B43D-AEB9446F2E00}"/>
              </a:ext>
            </a:extLst>
          </p:cNvPr>
          <p:cNvSpPr>
            <a:spLocks xmlns:a="http://schemas.openxmlformats.org/drawingml/2006/main" noGrp="1"/>
          </p:cNvSpPr>
          <p:nvPr/>
        </p:nvSpPr>
        <p:spPr>
          <a:xfrm xmlns:a="http://schemas.openxmlformats.org/drawingml/2006/main">
            <a:off x="4953000" y="5048250"/>
            <a:ext cx="609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A31"/>
                </a:solidFill>
                <a:latin typeface="Arial"/>
                <a:ea typeface="Arial"/>
                <a:cs typeface="Arial"/>
              </a:defRPr>
            </a:defPPr>
            <a:lvl1pPr>
              <a:defRPr sz="2175" b="0">
                <a:solidFill>
                  <a:srgbClr val="173A31"/>
                </a:solidFill>
                <a:latin typeface="Arial"/>
                <a:ea typeface="Arial"/>
                <a:cs typeface="Arial"/>
              </a:defRPr>
            </a:lvl1pPr>
            <a:lvl2pPr>
              <a:defRPr sz="2175" b="0">
                <a:solidFill>
                  <a:srgbClr val="173A31"/>
                </a:solidFill>
                <a:latin typeface="Arial"/>
                <a:ea typeface="Arial"/>
                <a:cs typeface="Arial"/>
              </a:defRPr>
            </a:lvl2pPr>
            <a:lvl3pPr>
              <a:defRPr sz="2175" b="0">
                <a:solidFill>
                  <a:srgbClr val="173A31"/>
                </a:solidFill>
                <a:latin typeface="Arial"/>
                <a:ea typeface="Arial"/>
                <a:cs typeface="Arial"/>
              </a:defRPr>
            </a:lvl3pPr>
            <a:lvl4pPr>
              <a:defRPr sz="2175" b="0">
                <a:solidFill>
                  <a:srgbClr val="173A31"/>
                </a:solidFill>
                <a:latin typeface="Arial"/>
                <a:ea typeface="Arial"/>
                <a:cs typeface="Arial"/>
              </a:defRPr>
            </a:lvl4pPr>
            <a:lvl5pPr>
              <a:defRPr sz="2175" b="0">
                <a:solidFill>
                  <a:srgbClr val="173A31"/>
                </a:solidFill>
                <a:latin typeface="Arial"/>
                <a:ea typeface="Arial"/>
                <a:cs typeface="Arial"/>
              </a:defRPr>
            </a:lvl5pPr>
            <a:lvl6pPr>
              <a:defRPr sz="2175" b="0">
                <a:solidFill>
                  <a:srgbClr val="173A31"/>
                </a:solidFill>
                <a:latin typeface="Arial"/>
                <a:ea typeface="Arial"/>
                <a:cs typeface="Arial"/>
              </a:defRPr>
            </a:lvl6pPr>
            <a:lvl7pPr>
              <a:defRPr sz="2175" b="0">
                <a:solidFill>
                  <a:srgbClr val="173A31"/>
                </a:solidFill>
                <a:latin typeface="Arial"/>
                <a:ea typeface="Arial"/>
                <a:cs typeface="Arial"/>
              </a:defRPr>
            </a:lvl7pPr>
            <a:lvl8pPr>
              <a:defRPr sz="2175" b="0">
                <a:solidFill>
                  <a:srgbClr val="173A31"/>
                </a:solidFill>
                <a:latin typeface="Arial"/>
                <a:ea typeface="Arial"/>
                <a:cs typeface="Arial"/>
              </a:defRPr>
            </a:lvl8pPr>
            <a:lvl9pPr>
              <a:defRPr sz="2175" b="0">
                <a:solidFill>
                  <a:srgbClr val="173A31"/>
                </a:solidFill>
                <a:latin typeface="Arial"/>
                <a:ea typeface="Arial"/>
                <a:cs typeface="Arial"/>
              </a:defRPr>
            </a:lvl9pPr>
          </a:lstStyle>
          <a:p xmlns:a="http://schemas.openxmlformats.org/drawingml/2006/main">
            <a:pPr>
              <a:defRPr sz="2175" b="0">
                <a:solidFill>
                  <a:srgbClr val="173A31"/>
                </a:solidFill>
                <a:latin typeface="Arial"/>
                <a:ea typeface="Arial"/>
                <a:cs typeface="Arial"/>
              </a:defRPr>
            </a:pPr>
            <a:r>
              <a:rPr sz="2175" b="0">
                <a:solidFill>
                  <a:srgbClr val="173A31"/>
                </a:solidFill>
                <a:latin typeface="Arial"/>
                <a:ea typeface="Arial"/>
                <a:cs typeface="Arial"/>
              </a:rPr>
              <a:t>3 of 6 positions shocked</a:t>
            </a:r>
          </a:p>
          <a:p xmlns:a="http://schemas.openxmlformats.org/drawingml/2006/main">
            <a:pPr>
              <a:defRPr sz="2175" b="0">
                <a:solidFill>
                  <a:srgbClr val="173A31"/>
                </a:solidFill>
                <a:latin typeface="Arial"/>
                <a:ea typeface="Arial"/>
                <a:cs typeface="Arial"/>
              </a:defRPr>
            </a:pPr>
            <a:r>
              <a:rPr sz="2175" b="0">
                <a:solidFill>
                  <a:srgbClr val="173A31"/>
                </a:solidFill>
                <a:latin typeface="Arial"/>
                <a:ea typeface="Arial"/>
                <a:cs typeface="Arial"/>
              </a:rPr>
              <a:t>Portfolio change: −5.44%</a:t>
            </a:r>
          </a:p>
        </p:txBody>
      </p:sp>
      <p:sp>
        <p:nvSpPr>
          <p:cNvPr id="7" name="">
            <a:extLst xmlns:a="http://schemas.openxmlformats.org/drawingml/2006/main">
              <a:ext uri="{FF2B5EF4-FFF2-40B4-BE49-F238E27FC236}">
                <a16:creationId xmlns:a16="http://schemas.microsoft.com/office/drawing/2014/main" id="{5027CAF6-1AFC-43E3-B1A7-95F6BAA256C3}"/>
              </a:ext>
            </a:extLst>
          </p:cNvPr>
          <p:cNvSpPr>
            <a:spLocks xmlns:a="http://schemas.openxmlformats.org/drawingml/2006/main" noGrp="1"/>
          </p:cNvSpPr>
          <p:nvPr/>
        </p:nvSpPr>
        <p:spPr>
          <a:xfrm xmlns:a="http://schemas.openxmlformats.org/drawingml/2006/main">
            <a:off x="609600" y="5905500"/>
            <a:ext cx="10620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53675D"/>
                </a:solidFill>
                <a:latin typeface="Arial"/>
                <a:ea typeface="Arial"/>
                <a:cs typeface="Arial"/>
              </a:defRPr>
            </a:defPPr>
            <a:lvl1pPr>
              <a:defRPr sz="1575" b="0">
                <a:solidFill>
                  <a:srgbClr val="53675D"/>
                </a:solidFill>
                <a:latin typeface="Arial"/>
                <a:ea typeface="Arial"/>
                <a:cs typeface="Arial"/>
              </a:defRPr>
            </a:lvl1pPr>
            <a:lvl2pPr>
              <a:defRPr sz="1575" b="0">
                <a:solidFill>
                  <a:srgbClr val="53675D"/>
                </a:solidFill>
                <a:latin typeface="Arial"/>
                <a:ea typeface="Arial"/>
                <a:cs typeface="Arial"/>
              </a:defRPr>
            </a:lvl2pPr>
            <a:lvl3pPr>
              <a:defRPr sz="1575" b="0">
                <a:solidFill>
                  <a:srgbClr val="53675D"/>
                </a:solidFill>
                <a:latin typeface="Arial"/>
                <a:ea typeface="Arial"/>
                <a:cs typeface="Arial"/>
              </a:defRPr>
            </a:lvl3pPr>
            <a:lvl4pPr>
              <a:defRPr sz="1575" b="0">
                <a:solidFill>
                  <a:srgbClr val="53675D"/>
                </a:solidFill>
                <a:latin typeface="Arial"/>
                <a:ea typeface="Arial"/>
                <a:cs typeface="Arial"/>
              </a:defRPr>
            </a:lvl4pPr>
            <a:lvl5pPr>
              <a:defRPr sz="1575" b="0">
                <a:solidFill>
                  <a:srgbClr val="53675D"/>
                </a:solidFill>
                <a:latin typeface="Arial"/>
                <a:ea typeface="Arial"/>
                <a:cs typeface="Arial"/>
              </a:defRPr>
            </a:lvl5pPr>
            <a:lvl6pPr>
              <a:defRPr sz="1575" b="0">
                <a:solidFill>
                  <a:srgbClr val="53675D"/>
                </a:solidFill>
                <a:latin typeface="Arial"/>
                <a:ea typeface="Arial"/>
                <a:cs typeface="Arial"/>
              </a:defRPr>
            </a:lvl6pPr>
            <a:lvl7pPr>
              <a:defRPr sz="1575" b="0">
                <a:solidFill>
                  <a:srgbClr val="53675D"/>
                </a:solidFill>
                <a:latin typeface="Arial"/>
                <a:ea typeface="Arial"/>
                <a:cs typeface="Arial"/>
              </a:defRPr>
            </a:lvl7pPr>
            <a:lvl8pPr>
              <a:defRPr sz="1575" b="0">
                <a:solidFill>
                  <a:srgbClr val="53675D"/>
                </a:solidFill>
                <a:latin typeface="Arial"/>
                <a:ea typeface="Arial"/>
                <a:cs typeface="Arial"/>
              </a:defRPr>
            </a:lvl8pPr>
            <a:lvl9pPr>
              <a:defRPr sz="1575" b="0">
                <a:solidFill>
                  <a:srgbClr val="53675D"/>
                </a:solidFill>
                <a:latin typeface="Arial"/>
                <a:ea typeface="Arial"/>
                <a:cs typeface="Arial"/>
              </a:defRPr>
            </a:lvl9pPr>
          </a:lstStyle>
          <a:p xmlns:a="http://schemas.openxmlformats.org/drawingml/2006/main">
            <a:pPr>
              <a:defRPr sz="1575" b="0">
                <a:solidFill>
                  <a:srgbClr val="53675D"/>
                </a:solidFill>
                <a:latin typeface="Arial"/>
                <a:ea typeface="Arial"/>
                <a:cs typeface="Arial"/>
              </a:defRPr>
            </a:pPr>
            <a:r>
              <a:rPr sz="1575" b="0">
                <a:solidFill>
                  <a:srgbClr val="53675D"/>
                </a:solidFill>
                <a:latin typeface="Arial"/>
                <a:ea typeface="Arial"/>
                <a:cs typeface="Arial"/>
              </a:rPr>
              <a:t>Same shocks applied to every issuer: −$121,050. Scope difference: $58,500.</a:t>
            </a:r>
          </a:p>
          <a:p xmlns:a="http://schemas.openxmlformats.org/drawingml/2006/main">
            <a:pPr>
              <a:defRPr sz="1575" b="0">
                <a:solidFill>
                  <a:srgbClr val="53675D"/>
                </a:solidFill>
                <a:latin typeface="Arial"/>
                <a:ea typeface="Arial"/>
                <a:cs typeface="Arial"/>
              </a:defRPr>
            </a:pPr>
            <a:r>
              <a:rPr sz="1575" b="0">
                <a:solidFill>
                  <a:srgbClr val="53675D"/>
                </a:solidFill>
                <a:latin typeface="Arial"/>
                <a:ea typeface="Arial"/>
                <a:cs typeface="Arial"/>
              </a:rPr>
              <a:t>This compares scenario assumptions, not forecast accuracy.</a:t>
            </a:r>
          </a:p>
        </p:txBody>
      </p:sp>
    </p:spTree>
    <p:extLst>
      <p:ext uri="{BB962C8B-B14F-4D97-AF65-F5344CB8AC3E}">
        <p14:creationId xmlns:p14="http://schemas.microsoft.com/office/powerpoint/2010/main" val="1185995653"/>
      </p:ext>
    </p:extLst>
  </p:cSld>
</p:sld>
</file>

<file path=ppt/slides/slide6.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45616CD-7349-4CD0-BE33-D5EF8185D451}"/>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A31"/>
                </a:solidFill>
                <a:latin typeface="Arial"/>
                <a:ea typeface="Arial"/>
                <a:cs typeface="Arial"/>
              </a:defRPr>
            </a:defPPr>
            <a:lvl1pPr>
              <a:defRPr sz="3300" b="1">
                <a:solidFill>
                  <a:srgbClr val="173A31"/>
                </a:solidFill>
                <a:latin typeface="Arial"/>
                <a:ea typeface="Arial"/>
                <a:cs typeface="Arial"/>
              </a:defRPr>
            </a:lvl1pPr>
            <a:lvl2pPr>
              <a:defRPr sz="3300" b="1">
                <a:solidFill>
                  <a:srgbClr val="173A31"/>
                </a:solidFill>
                <a:latin typeface="Arial"/>
                <a:ea typeface="Arial"/>
                <a:cs typeface="Arial"/>
              </a:defRPr>
            </a:lvl2pPr>
            <a:lvl3pPr>
              <a:defRPr sz="3300" b="1">
                <a:solidFill>
                  <a:srgbClr val="173A31"/>
                </a:solidFill>
                <a:latin typeface="Arial"/>
                <a:ea typeface="Arial"/>
                <a:cs typeface="Arial"/>
              </a:defRPr>
            </a:lvl3pPr>
            <a:lvl4pPr>
              <a:defRPr sz="3300" b="1">
                <a:solidFill>
                  <a:srgbClr val="173A31"/>
                </a:solidFill>
                <a:latin typeface="Arial"/>
                <a:ea typeface="Arial"/>
                <a:cs typeface="Arial"/>
              </a:defRPr>
            </a:lvl4pPr>
            <a:lvl5pPr>
              <a:defRPr sz="3300" b="1">
                <a:solidFill>
                  <a:srgbClr val="173A31"/>
                </a:solidFill>
                <a:latin typeface="Arial"/>
                <a:ea typeface="Arial"/>
                <a:cs typeface="Arial"/>
              </a:defRPr>
            </a:lvl5pPr>
            <a:lvl6pPr>
              <a:defRPr sz="3300" b="1">
                <a:solidFill>
                  <a:srgbClr val="173A31"/>
                </a:solidFill>
                <a:latin typeface="Arial"/>
                <a:ea typeface="Arial"/>
                <a:cs typeface="Arial"/>
              </a:defRPr>
            </a:lvl6pPr>
            <a:lvl7pPr>
              <a:defRPr sz="3300" b="1">
                <a:solidFill>
                  <a:srgbClr val="173A31"/>
                </a:solidFill>
                <a:latin typeface="Arial"/>
                <a:ea typeface="Arial"/>
                <a:cs typeface="Arial"/>
              </a:defRPr>
            </a:lvl7pPr>
            <a:lvl8pPr>
              <a:defRPr sz="3300" b="1">
                <a:solidFill>
                  <a:srgbClr val="173A31"/>
                </a:solidFill>
                <a:latin typeface="Arial"/>
                <a:ea typeface="Arial"/>
                <a:cs typeface="Arial"/>
              </a:defRPr>
            </a:lvl8pPr>
            <a:lvl9pPr>
              <a:defRPr sz="3300" b="1">
                <a:solidFill>
                  <a:srgbClr val="173A31"/>
                </a:solidFill>
                <a:latin typeface="Arial"/>
                <a:ea typeface="Arial"/>
                <a:cs typeface="Arial"/>
              </a:defRPr>
            </a:lvl9pPr>
          </a:lstStyle>
          <a:p xmlns:a="http://schemas.openxmlformats.org/drawingml/2006/main">
            <a:pPr>
              <a:defRPr sz="3300" b="1">
                <a:solidFill>
                  <a:srgbClr val="173A31"/>
                </a:solidFill>
                <a:latin typeface="Arial"/>
                <a:ea typeface="Arial"/>
                <a:cs typeface="Arial"/>
              </a:defRPr>
            </a:pPr>
            <a:r>
              <a:rPr sz="3300" b="1">
                <a:solidFill>
                  <a:srgbClr val="173A31"/>
                </a:solidFill>
                <a:latin typeface="Arial"/>
                <a:ea typeface="Arial"/>
                <a:cs typeface="Arial"/>
              </a:rPr>
              <a:t>Evidence and domain relevance</a:t>
            </a:r>
          </a:p>
        </p:txBody>
      </p:sp>
      <p:sp>
        <p:nvSpPr>
          <p:cNvPr id="2" name="">
            <a:extLst xmlns:a="http://schemas.openxmlformats.org/drawingml/2006/main">
              <a:ext uri="{FF2B5EF4-FFF2-40B4-BE49-F238E27FC236}">
                <a16:creationId xmlns:a16="http://schemas.microsoft.com/office/drawing/2014/main" id="{BA66D37B-A429-4177-A325-2763539A2072}"/>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5D"/>
                </a:solidFill>
                <a:latin typeface="Arial"/>
                <a:ea typeface="Arial"/>
                <a:cs typeface="Arial"/>
              </a:defRPr>
            </a:defPPr>
            <a:lvl1pPr>
              <a:defRPr sz="1275" b="0">
                <a:solidFill>
                  <a:srgbClr val="53675D"/>
                </a:solidFill>
                <a:latin typeface="Arial"/>
                <a:ea typeface="Arial"/>
                <a:cs typeface="Arial"/>
              </a:defRPr>
            </a:lvl1pPr>
            <a:lvl2pPr>
              <a:defRPr sz="1275" b="0">
                <a:solidFill>
                  <a:srgbClr val="53675D"/>
                </a:solidFill>
                <a:latin typeface="Arial"/>
                <a:ea typeface="Arial"/>
                <a:cs typeface="Arial"/>
              </a:defRPr>
            </a:lvl2pPr>
            <a:lvl3pPr>
              <a:defRPr sz="1275" b="0">
                <a:solidFill>
                  <a:srgbClr val="53675D"/>
                </a:solidFill>
                <a:latin typeface="Arial"/>
                <a:ea typeface="Arial"/>
                <a:cs typeface="Arial"/>
              </a:defRPr>
            </a:lvl3pPr>
            <a:lvl4pPr>
              <a:defRPr sz="1275" b="0">
                <a:solidFill>
                  <a:srgbClr val="53675D"/>
                </a:solidFill>
                <a:latin typeface="Arial"/>
                <a:ea typeface="Arial"/>
                <a:cs typeface="Arial"/>
              </a:defRPr>
            </a:lvl4pPr>
            <a:lvl5pPr>
              <a:defRPr sz="1275" b="0">
                <a:solidFill>
                  <a:srgbClr val="53675D"/>
                </a:solidFill>
                <a:latin typeface="Arial"/>
                <a:ea typeface="Arial"/>
                <a:cs typeface="Arial"/>
              </a:defRPr>
            </a:lvl5pPr>
            <a:lvl6pPr>
              <a:defRPr sz="1275" b="0">
                <a:solidFill>
                  <a:srgbClr val="53675D"/>
                </a:solidFill>
                <a:latin typeface="Arial"/>
                <a:ea typeface="Arial"/>
                <a:cs typeface="Arial"/>
              </a:defRPr>
            </a:lvl6pPr>
            <a:lvl7pPr>
              <a:defRPr sz="1275" b="0">
                <a:solidFill>
                  <a:srgbClr val="53675D"/>
                </a:solidFill>
                <a:latin typeface="Arial"/>
                <a:ea typeface="Arial"/>
                <a:cs typeface="Arial"/>
              </a:defRPr>
            </a:lvl7pPr>
            <a:lvl8pPr>
              <a:defRPr sz="1275" b="0">
                <a:solidFill>
                  <a:srgbClr val="53675D"/>
                </a:solidFill>
                <a:latin typeface="Arial"/>
                <a:ea typeface="Arial"/>
                <a:cs typeface="Arial"/>
              </a:defRPr>
            </a:lvl8pPr>
            <a:lvl9pPr>
              <a:defRPr sz="1275" b="0">
                <a:solidFill>
                  <a:srgbClr val="53675D"/>
                </a:solidFill>
                <a:latin typeface="Arial"/>
                <a:ea typeface="Arial"/>
                <a:cs typeface="Arial"/>
              </a:defRPr>
            </a:lvl9pPr>
          </a:lstStyle>
          <a:p xmlns:a="http://schemas.openxmlformats.org/drawingml/2006/main">
            <a:pPr>
              <a:defRPr sz="1275" b="0">
                <a:solidFill>
                  <a:srgbClr val="53675D"/>
                </a:solidFill>
                <a:latin typeface="Arial"/>
                <a:ea typeface="Arial"/>
                <a:cs typeface="Arial"/>
              </a:defRPr>
            </a:pPr>
            <a:r>
              <a:rPr sz="1275" b="0">
                <a:solidFill>
                  <a:srgbClr val="53675D"/>
                </a:solidFill>
                <a:latin typeface="Arial"/>
                <a:ea typeface="Arial"/>
                <a:cs typeface="Arial"/>
              </a:rPr>
              <a:t>6 / 7</a:t>
            </a:r>
          </a:p>
        </p:txBody>
      </p:sp>
      <p:graphicFrame>
        <p:nvGraphicFramePr>
          <p:cNvPr id="3" name="">
            <a:extLst xmlns:a="http://schemas.openxmlformats.org/drawingml/2006/main">
              <a:ext uri="{FF2B5EF4-FFF2-40B4-BE49-F238E27FC236}">
                <a16:creationId xmlns:a16="http://schemas.microsoft.com/office/drawing/2014/main" id="{36FFAF0E-028C-4114-9704-9E1462071DD5}"/>
              </a:ext>
            </a:extLst>
          </p:cNvPr>
          <p:cNvGraphicFramePr/>
          <p:nvPr/>
        </p:nvGraphicFramePr>
        <p:xfrm>
          <a:off xmlns:a="http://schemas.openxmlformats.org/drawingml/2006/main" x="609600" y="1504950"/>
          <a:ext xmlns:a="http://schemas.openxmlformats.org/drawingml/2006/main" cx="10972800" cy="1762125"/>
        </p:xfrm>
        <a:graphic xmlns:a="http://schemas.openxmlformats.org/drawingml/2006/main">
          <a:graphicData uri="http://schemas.openxmlformats.org/drawingml/2006/table">
            <a:tbl>
              <a:tblPr/>
              <a:tblGrid>
                <a:gridCol w="6210300"/>
                <a:gridCol w="2381250"/>
                <a:gridCol w="2381250"/>
              </a:tblGrid>
              <a:tr h="587375">
                <a:tc>
                  <a:txBody>
                    <a:bodyPr/>
                    <a:lstStyle/>
                    <a:p>
                      <a:r>
                        <a:rPr sz="1725" b="1">
                          <a:solidFill>
                            <a:srgbClr val="FFFFFF"/>
                          </a:solidFill>
                          <a:latin typeface="Arial"/>
                          <a:ea typeface="Arial"/>
                          <a:cs typeface="Arial"/>
                        </a:rPr>
                        <a:t>Sentiment on 3,453 sentences</a:t>
                      </a:r>
                    </a:p>
                  </a:txBody>
                  <a:tcPr marL="91440" marR="91440" marT="45720" marB="45720">
                    <a:lnL w="19050">
                      <a:solidFill>
                        <a:srgbClr val="F7F4EC"/>
                      </a:solidFill>
                    </a:lnL>
                    <a:lnR w="19050">
                      <a:solidFill>
                        <a:srgbClr val="F7F4EC"/>
                      </a:solidFill>
                    </a:lnR>
                    <a:lnT w="19050">
                      <a:solidFill>
                        <a:srgbClr val="F7F4EC"/>
                      </a:solidFill>
                    </a:lnT>
                    <a:lnB w="19050">
                      <a:solidFill>
                        <a:srgbClr val="F7F4EC"/>
                      </a:solidFill>
                    </a:lnB>
                    <a:solidFill>
                      <a:srgbClr val="285B4A"/>
                    </a:solidFill>
                  </a:tcPr>
                </a:tc>
                <a:tc>
                  <a:txBody>
                    <a:bodyPr/>
                    <a:lstStyle/>
                    <a:p>
                      <a:r>
                        <a:rPr sz="1725" b="1">
                          <a:solidFill>
                            <a:srgbClr val="FFFFFF"/>
                          </a:solidFill>
                          <a:latin typeface="Arial"/>
                          <a:ea typeface="Arial"/>
                          <a:cs typeface="Arial"/>
                        </a:rPr>
                        <a:t>Accuracy</a:t>
                      </a:r>
                    </a:p>
                  </a:txBody>
                  <a:tcPr marL="91440" marR="91440" marT="45720" marB="45720">
                    <a:lnR w="19050">
                      <a:solidFill>
                        <a:srgbClr val="F7F4EC"/>
                      </a:solidFill>
                    </a:lnR>
                    <a:lnT w="19050">
                      <a:solidFill>
                        <a:srgbClr val="F7F4EC"/>
                      </a:solidFill>
                    </a:lnT>
                    <a:lnB w="19050">
                      <a:solidFill>
                        <a:srgbClr val="F7F4EC"/>
                      </a:solidFill>
                    </a:lnB>
                    <a:solidFill>
                      <a:srgbClr val="285B4A"/>
                    </a:solidFill>
                  </a:tcPr>
                </a:tc>
                <a:tc>
                  <a:txBody>
                    <a:bodyPr/>
                    <a:lstStyle/>
                    <a:p>
                      <a:r>
                        <a:rPr sz="1725" b="1">
                          <a:solidFill>
                            <a:srgbClr val="FFFFFF"/>
                          </a:solidFill>
                          <a:latin typeface="Arial"/>
                          <a:ea typeface="Arial"/>
                          <a:cs typeface="Arial"/>
                        </a:rPr>
                        <a:t>Macro F1</a:t>
                      </a:r>
                    </a:p>
                  </a:txBody>
                  <a:tcPr marL="91440" marR="91440" marT="45720" marB="45720">
                    <a:lnR w="19050">
                      <a:solidFill>
                        <a:srgbClr val="F7F4EC"/>
                      </a:solidFill>
                    </a:lnR>
                    <a:lnT w="19050">
                      <a:solidFill>
                        <a:srgbClr val="F7F4EC"/>
                      </a:solidFill>
                    </a:lnT>
                    <a:lnB w="19050">
                      <a:solidFill>
                        <a:srgbClr val="F7F4EC"/>
                      </a:solidFill>
                    </a:lnB>
                    <a:solidFill>
                      <a:srgbClr val="285B4A"/>
                    </a:solidFill>
                  </a:tcPr>
                </a:tc>
              </a:tr>
              <a:tr h="587375">
                <a:tc>
                  <a:txBody>
                    <a:bodyPr/>
                    <a:lstStyle/>
                    <a:p>
                      <a:r>
                        <a:rPr sz="1725" b="0">
                          <a:solidFill>
                            <a:srgbClr val="173A31"/>
                          </a:solidFill>
                          <a:latin typeface="Arial"/>
                          <a:ea typeface="Arial"/>
                          <a:cs typeface="Arial"/>
                        </a:rPr>
                        <a:t>Always-neutral baseline</a:t>
                      </a:r>
                    </a:p>
                  </a:txBody>
                  <a:tcPr marL="91440" marR="91440" marT="45720" marB="45720">
                    <a:lnL w="19050">
                      <a:solidFill>
                        <a:srgbClr val="F7F4EC"/>
                      </a:solidFill>
                    </a:lnL>
                    <a:lnR w="19050">
                      <a:solidFill>
                        <a:srgbClr val="F7F4EC"/>
                      </a:solidFill>
                    </a:lnR>
                    <a:lnB w="19050">
                      <a:solidFill>
                        <a:srgbClr val="F7F4EC"/>
                      </a:solidFill>
                    </a:lnB>
                    <a:solidFill>
                      <a:srgbClr val="DCE9DF"/>
                    </a:solidFill>
                  </a:tcPr>
                </a:tc>
                <a:tc>
                  <a:txBody>
                    <a:bodyPr/>
                    <a:lstStyle/>
                    <a:p>
                      <a:r>
                        <a:rPr sz="1725" b="0">
                          <a:solidFill>
                            <a:srgbClr val="173A31"/>
                          </a:solidFill>
                          <a:latin typeface="Arial"/>
                          <a:ea typeface="Arial"/>
                          <a:cs typeface="Arial"/>
                        </a:rPr>
                        <a:t>62.15%</a:t>
                      </a:r>
                    </a:p>
                  </a:txBody>
                  <a:tcPr marL="91440" marR="91440" marT="45720" marB="45720">
                    <a:lnR w="19050">
                      <a:solidFill>
                        <a:srgbClr val="F7F4EC"/>
                      </a:solidFill>
                    </a:lnR>
                    <a:lnB w="19050">
                      <a:solidFill>
                        <a:srgbClr val="F7F4EC"/>
                      </a:solidFill>
                    </a:lnB>
                    <a:solidFill>
                      <a:srgbClr val="DCE9DF"/>
                    </a:solidFill>
                  </a:tcPr>
                </a:tc>
                <a:tc>
                  <a:txBody>
                    <a:bodyPr/>
                    <a:lstStyle/>
                    <a:p>
                      <a:r>
                        <a:rPr sz="1725" b="0">
                          <a:solidFill>
                            <a:srgbClr val="173A31"/>
                          </a:solidFill>
                          <a:latin typeface="Arial"/>
                          <a:ea typeface="Arial"/>
                          <a:cs typeface="Arial"/>
                        </a:rPr>
                        <a:t>0.2555</a:t>
                      </a:r>
                    </a:p>
                  </a:txBody>
                  <a:tcPr marL="91440" marR="91440" marT="45720" marB="45720">
                    <a:lnR w="19050">
                      <a:solidFill>
                        <a:srgbClr val="F7F4EC"/>
                      </a:solidFill>
                    </a:lnR>
                    <a:lnB w="19050">
                      <a:solidFill>
                        <a:srgbClr val="F7F4EC"/>
                      </a:solidFill>
                    </a:lnB>
                    <a:solidFill>
                      <a:srgbClr val="DCE9DF"/>
                    </a:solidFill>
                  </a:tcPr>
                </a:tc>
              </a:tr>
              <a:tr h="587375">
                <a:tc>
                  <a:txBody>
                    <a:bodyPr/>
                    <a:lstStyle/>
                    <a:p>
                      <a:r>
                        <a:rPr sz="1725" b="0">
                          <a:solidFill>
                            <a:srgbClr val="173A31"/>
                          </a:solidFill>
                          <a:latin typeface="Arial"/>
                          <a:ea typeface="Arial"/>
                          <a:cs typeface="Arial"/>
                        </a:rPr>
                        <a:t>Current keyword rules</a:t>
                      </a:r>
                    </a:p>
                  </a:txBody>
                  <a:tcPr marL="91440" marR="91440" marT="45720" marB="45720">
                    <a:lnL w="19050">
                      <a:solidFill>
                        <a:srgbClr val="F7F4EC"/>
                      </a:solidFill>
                    </a:lnL>
                    <a:lnR w="19050">
                      <a:solidFill>
                        <a:srgbClr val="F7F4EC"/>
                      </a:solidFill>
                    </a:lnR>
                    <a:lnB w="19050">
                      <a:solidFill>
                        <a:srgbClr val="F7F4EC"/>
                      </a:solidFill>
                    </a:lnB>
                    <a:solidFill>
                      <a:srgbClr val="F7F4EC"/>
                    </a:solidFill>
                  </a:tcPr>
                </a:tc>
                <a:tc>
                  <a:txBody>
                    <a:bodyPr/>
                    <a:lstStyle/>
                    <a:p>
                      <a:r>
                        <a:rPr sz="1725" b="0">
                          <a:solidFill>
                            <a:srgbClr val="173A31"/>
                          </a:solidFill>
                          <a:latin typeface="Arial"/>
                          <a:ea typeface="Arial"/>
                          <a:cs typeface="Arial"/>
                        </a:rPr>
                        <a:t>67.33%</a:t>
                      </a:r>
                    </a:p>
                  </a:txBody>
                  <a:tcPr marL="91440" marR="91440" marT="45720" marB="45720">
                    <a:lnR w="19050">
                      <a:solidFill>
                        <a:srgbClr val="F7F4EC"/>
                      </a:solidFill>
                    </a:lnR>
                    <a:lnB w="19050">
                      <a:solidFill>
                        <a:srgbClr val="F7F4EC"/>
                      </a:solidFill>
                    </a:lnB>
                    <a:solidFill>
                      <a:srgbClr val="F7F4EC"/>
                    </a:solidFill>
                  </a:tcPr>
                </a:tc>
                <a:tc>
                  <a:txBody>
                    <a:bodyPr/>
                    <a:lstStyle/>
                    <a:p>
                      <a:r>
                        <a:rPr sz="1725" b="0">
                          <a:solidFill>
                            <a:srgbClr val="173A31"/>
                          </a:solidFill>
                          <a:latin typeface="Arial"/>
                          <a:ea typeface="Arial"/>
                          <a:cs typeface="Arial"/>
                        </a:rPr>
                        <a:t>0.4319</a:t>
                      </a:r>
                    </a:p>
                  </a:txBody>
                  <a:tcPr marL="91440" marR="91440" marT="45720" marB="45720">
                    <a:lnR w="19050">
                      <a:solidFill>
                        <a:srgbClr val="F7F4EC"/>
                      </a:solidFill>
                    </a:lnR>
                    <a:lnB w="19050">
                      <a:solidFill>
                        <a:srgbClr val="F7F4EC"/>
                      </a:solidFill>
                    </a:lnB>
                    <a:solidFill>
                      <a:srgbClr val="F7F4EC"/>
                    </a:solidFill>
                  </a:tcPr>
                </a:tc>
              </a:tr>
            </a:tbl>
          </a:graphicData>
        </a:graphic>
      </p:graphicFrame>
      <p:sp>
        <p:nvSpPr>
          <p:cNvPr id="4" name="">
            <a:extLst xmlns:a="http://schemas.openxmlformats.org/drawingml/2006/main">
              <a:ext uri="{FF2B5EF4-FFF2-40B4-BE49-F238E27FC236}">
                <a16:creationId xmlns:a16="http://schemas.microsoft.com/office/drawing/2014/main" id="{E0EE4CE6-0E70-48CA-B603-BC7BE4057CB6}"/>
              </a:ext>
            </a:extLst>
          </p:cNvPr>
          <p:cNvSpPr>
            <a:spLocks xmlns:a="http://schemas.openxmlformats.org/drawingml/2006/main" noGrp="1"/>
          </p:cNvSpPr>
          <p:nvPr/>
        </p:nvSpPr>
        <p:spPr>
          <a:xfrm xmlns:a="http://schemas.openxmlformats.org/drawingml/2006/main">
            <a:off x="609600" y="34861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1">
                <a:solidFill>
                  <a:srgbClr val="C66A4A"/>
                </a:solidFill>
                <a:latin typeface="Arial"/>
                <a:ea typeface="Arial"/>
                <a:cs typeface="Arial"/>
              </a:defRPr>
            </a:defPPr>
            <a:lvl1pPr>
              <a:defRPr sz="2025" b="1">
                <a:solidFill>
                  <a:srgbClr val="C66A4A"/>
                </a:solidFill>
                <a:latin typeface="Arial"/>
                <a:ea typeface="Arial"/>
                <a:cs typeface="Arial"/>
              </a:defRPr>
            </a:lvl1pPr>
            <a:lvl2pPr>
              <a:defRPr sz="2025" b="1">
                <a:solidFill>
                  <a:srgbClr val="C66A4A"/>
                </a:solidFill>
                <a:latin typeface="Arial"/>
                <a:ea typeface="Arial"/>
                <a:cs typeface="Arial"/>
              </a:defRPr>
            </a:lvl2pPr>
            <a:lvl3pPr>
              <a:defRPr sz="2025" b="1">
                <a:solidFill>
                  <a:srgbClr val="C66A4A"/>
                </a:solidFill>
                <a:latin typeface="Arial"/>
                <a:ea typeface="Arial"/>
                <a:cs typeface="Arial"/>
              </a:defRPr>
            </a:lvl3pPr>
            <a:lvl4pPr>
              <a:defRPr sz="2025" b="1">
                <a:solidFill>
                  <a:srgbClr val="C66A4A"/>
                </a:solidFill>
                <a:latin typeface="Arial"/>
                <a:ea typeface="Arial"/>
                <a:cs typeface="Arial"/>
              </a:defRPr>
            </a:lvl4pPr>
            <a:lvl5pPr>
              <a:defRPr sz="2025" b="1">
                <a:solidFill>
                  <a:srgbClr val="C66A4A"/>
                </a:solidFill>
                <a:latin typeface="Arial"/>
                <a:ea typeface="Arial"/>
                <a:cs typeface="Arial"/>
              </a:defRPr>
            </a:lvl5pPr>
            <a:lvl6pPr>
              <a:defRPr sz="2025" b="1">
                <a:solidFill>
                  <a:srgbClr val="C66A4A"/>
                </a:solidFill>
                <a:latin typeface="Arial"/>
                <a:ea typeface="Arial"/>
                <a:cs typeface="Arial"/>
              </a:defRPr>
            </a:lvl6pPr>
            <a:lvl7pPr>
              <a:defRPr sz="2025" b="1">
                <a:solidFill>
                  <a:srgbClr val="C66A4A"/>
                </a:solidFill>
                <a:latin typeface="Arial"/>
                <a:ea typeface="Arial"/>
                <a:cs typeface="Arial"/>
              </a:defRPr>
            </a:lvl7pPr>
            <a:lvl8pPr>
              <a:defRPr sz="2025" b="1">
                <a:solidFill>
                  <a:srgbClr val="C66A4A"/>
                </a:solidFill>
                <a:latin typeface="Arial"/>
                <a:ea typeface="Arial"/>
                <a:cs typeface="Arial"/>
              </a:defRPr>
            </a:lvl8pPr>
            <a:lvl9pPr>
              <a:defRPr sz="2025" b="1">
                <a:solidFill>
                  <a:srgbClr val="C66A4A"/>
                </a:solidFill>
                <a:latin typeface="Arial"/>
                <a:ea typeface="Arial"/>
                <a:cs typeface="Arial"/>
              </a:defRPr>
            </a:lvl9pPr>
          </a:lstStyle>
          <a:p xmlns:a="http://schemas.openxmlformats.org/drawingml/2006/main">
            <a:pPr>
              <a:defRPr sz="2025" b="1">
                <a:solidFill>
                  <a:srgbClr val="C66A4A"/>
                </a:solidFill>
                <a:latin typeface="Arial"/>
                <a:ea typeface="Arial"/>
                <a:cs typeface="Arial"/>
              </a:defRPr>
            </a:pPr>
            <a:r>
              <a:rPr sz="2025" b="1">
                <a:solidFill>
                  <a:srgbClr val="C66A4A"/>
                </a:solidFill>
                <a:latin typeface="Arial"/>
                <a:ea typeface="Arial"/>
                <a:cs typeface="Arial"/>
              </a:rPr>
              <a:t>Negative recall: 9.52%. Analyst review remains essential.</a:t>
            </a:r>
          </a:p>
        </p:txBody>
      </p:sp>
      <p:sp>
        <p:nvSpPr>
          <p:cNvPr id="5" name="">
            <a:extLst xmlns:a="http://schemas.openxmlformats.org/drawingml/2006/main">
              <a:ext uri="{FF2B5EF4-FFF2-40B4-BE49-F238E27FC236}">
                <a16:creationId xmlns:a16="http://schemas.microsoft.com/office/drawing/2014/main" id="{982623B5-17BD-49CE-82FC-6BB19C36CD44}"/>
              </a:ext>
            </a:extLst>
          </p:cNvPr>
          <p:cNvSpPr>
            <a:spLocks xmlns:a="http://schemas.openxmlformats.org/drawingml/2006/main" noGrp="1"/>
          </p:cNvSpPr>
          <p:nvPr/>
        </p:nvSpPr>
        <p:spPr>
          <a:xfrm xmlns:a="http://schemas.openxmlformats.org/drawingml/2006/main">
            <a:off x="609600" y="42672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285B4A"/>
                </a:solidFill>
                <a:latin typeface="Arial"/>
                <a:ea typeface="Arial"/>
                <a:cs typeface="Arial"/>
              </a:defRPr>
            </a:defPPr>
            <a:lvl1pPr>
              <a:defRPr sz="2175" b="1">
                <a:solidFill>
                  <a:srgbClr val="285B4A"/>
                </a:solidFill>
                <a:latin typeface="Arial"/>
                <a:ea typeface="Arial"/>
                <a:cs typeface="Arial"/>
              </a:defRPr>
            </a:lvl1pPr>
            <a:lvl2pPr>
              <a:defRPr sz="2175" b="1">
                <a:solidFill>
                  <a:srgbClr val="285B4A"/>
                </a:solidFill>
                <a:latin typeface="Arial"/>
                <a:ea typeface="Arial"/>
                <a:cs typeface="Arial"/>
              </a:defRPr>
            </a:lvl2pPr>
            <a:lvl3pPr>
              <a:defRPr sz="2175" b="1">
                <a:solidFill>
                  <a:srgbClr val="285B4A"/>
                </a:solidFill>
                <a:latin typeface="Arial"/>
                <a:ea typeface="Arial"/>
                <a:cs typeface="Arial"/>
              </a:defRPr>
            </a:lvl3pPr>
            <a:lvl4pPr>
              <a:defRPr sz="2175" b="1">
                <a:solidFill>
                  <a:srgbClr val="285B4A"/>
                </a:solidFill>
                <a:latin typeface="Arial"/>
                <a:ea typeface="Arial"/>
                <a:cs typeface="Arial"/>
              </a:defRPr>
            </a:lvl4pPr>
            <a:lvl5pPr>
              <a:defRPr sz="2175" b="1">
                <a:solidFill>
                  <a:srgbClr val="285B4A"/>
                </a:solidFill>
                <a:latin typeface="Arial"/>
                <a:ea typeface="Arial"/>
                <a:cs typeface="Arial"/>
              </a:defRPr>
            </a:lvl5pPr>
            <a:lvl6pPr>
              <a:defRPr sz="2175" b="1">
                <a:solidFill>
                  <a:srgbClr val="285B4A"/>
                </a:solidFill>
                <a:latin typeface="Arial"/>
                <a:ea typeface="Arial"/>
                <a:cs typeface="Arial"/>
              </a:defRPr>
            </a:lvl6pPr>
            <a:lvl7pPr>
              <a:defRPr sz="2175" b="1">
                <a:solidFill>
                  <a:srgbClr val="285B4A"/>
                </a:solidFill>
                <a:latin typeface="Arial"/>
                <a:ea typeface="Arial"/>
                <a:cs typeface="Arial"/>
              </a:defRPr>
            </a:lvl7pPr>
            <a:lvl8pPr>
              <a:defRPr sz="2175" b="1">
                <a:solidFill>
                  <a:srgbClr val="285B4A"/>
                </a:solidFill>
                <a:latin typeface="Arial"/>
                <a:ea typeface="Arial"/>
                <a:cs typeface="Arial"/>
              </a:defRPr>
            </a:lvl8pPr>
            <a:lvl9pPr>
              <a:defRPr sz="2175" b="1">
                <a:solidFill>
                  <a:srgbClr val="285B4A"/>
                </a:solidFill>
                <a:latin typeface="Arial"/>
                <a:ea typeface="Arial"/>
                <a:cs typeface="Arial"/>
              </a:defRPr>
            </a:lvl9pPr>
          </a:lstStyle>
          <a:p xmlns:a="http://schemas.openxmlformats.org/drawingml/2006/main">
            <a:pPr>
              <a:defRPr sz="2175" b="1">
                <a:solidFill>
                  <a:srgbClr val="285B4A"/>
                </a:solidFill>
                <a:latin typeface="Arial"/>
                <a:ea typeface="Arial"/>
                <a:cs typeface="Arial"/>
              </a:defRPr>
            </a:pPr>
            <a:r>
              <a:rPr sz="2175" b="1">
                <a:solidFill>
                  <a:srgbClr val="285B4A"/>
                </a:solidFill>
                <a:latin typeface="Arial"/>
                <a:ea typeface="Arial"/>
                <a:cs typeface="Arial"/>
              </a:rPr>
              <a:t>Historical context</a:t>
            </a:r>
          </a:p>
        </p:txBody>
      </p:sp>
      <p:sp>
        <p:nvSpPr>
          <p:cNvPr id="6" name="">
            <a:extLst xmlns:a="http://schemas.openxmlformats.org/drawingml/2006/main">
              <a:ext uri="{FF2B5EF4-FFF2-40B4-BE49-F238E27FC236}">
                <a16:creationId xmlns:a16="http://schemas.microsoft.com/office/drawing/2014/main" id="{558D8D71-23F8-448C-8717-71E8586E5B94}"/>
              </a:ext>
            </a:extLst>
          </p:cNvPr>
          <p:cNvSpPr>
            <a:spLocks xmlns:a="http://schemas.openxmlformats.org/drawingml/2006/main" noGrp="1"/>
          </p:cNvSpPr>
          <p:nvPr/>
        </p:nvSpPr>
        <p:spPr>
          <a:xfrm xmlns:a="http://schemas.openxmlformats.org/drawingml/2006/main">
            <a:off x="609600" y="4800600"/>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73A31"/>
                </a:solidFill>
                <a:latin typeface="Arial"/>
                <a:ea typeface="Arial"/>
                <a:cs typeface="Arial"/>
              </a:defRPr>
            </a:defPPr>
            <a:lvl1pPr>
              <a:defRPr sz="2400" b="0">
                <a:solidFill>
                  <a:srgbClr val="173A31"/>
                </a:solidFill>
                <a:latin typeface="Arial"/>
                <a:ea typeface="Arial"/>
                <a:cs typeface="Arial"/>
              </a:defRPr>
            </a:lvl1pPr>
            <a:lvl2pPr>
              <a:defRPr sz="2400" b="0">
                <a:solidFill>
                  <a:srgbClr val="173A31"/>
                </a:solidFill>
                <a:latin typeface="Arial"/>
                <a:ea typeface="Arial"/>
                <a:cs typeface="Arial"/>
              </a:defRPr>
            </a:lvl2pPr>
            <a:lvl3pPr>
              <a:defRPr sz="2400" b="0">
                <a:solidFill>
                  <a:srgbClr val="173A31"/>
                </a:solidFill>
                <a:latin typeface="Arial"/>
                <a:ea typeface="Arial"/>
                <a:cs typeface="Arial"/>
              </a:defRPr>
            </a:lvl3pPr>
            <a:lvl4pPr>
              <a:defRPr sz="2400" b="0">
                <a:solidFill>
                  <a:srgbClr val="173A31"/>
                </a:solidFill>
                <a:latin typeface="Arial"/>
                <a:ea typeface="Arial"/>
                <a:cs typeface="Arial"/>
              </a:defRPr>
            </a:lvl4pPr>
            <a:lvl5pPr>
              <a:defRPr sz="2400" b="0">
                <a:solidFill>
                  <a:srgbClr val="173A31"/>
                </a:solidFill>
                <a:latin typeface="Arial"/>
                <a:ea typeface="Arial"/>
                <a:cs typeface="Arial"/>
              </a:defRPr>
            </a:lvl5pPr>
            <a:lvl6pPr>
              <a:defRPr sz="2400" b="0">
                <a:solidFill>
                  <a:srgbClr val="173A31"/>
                </a:solidFill>
                <a:latin typeface="Arial"/>
                <a:ea typeface="Arial"/>
                <a:cs typeface="Arial"/>
              </a:defRPr>
            </a:lvl6pPr>
            <a:lvl7pPr>
              <a:defRPr sz="2400" b="0">
                <a:solidFill>
                  <a:srgbClr val="173A31"/>
                </a:solidFill>
                <a:latin typeface="Arial"/>
                <a:ea typeface="Arial"/>
                <a:cs typeface="Arial"/>
              </a:defRPr>
            </a:lvl7pPr>
            <a:lvl8pPr>
              <a:defRPr sz="2400" b="0">
                <a:solidFill>
                  <a:srgbClr val="173A31"/>
                </a:solidFill>
                <a:latin typeface="Arial"/>
                <a:ea typeface="Arial"/>
                <a:cs typeface="Arial"/>
              </a:defRPr>
            </a:lvl8pPr>
            <a:lvl9pPr>
              <a:defRPr sz="2400" b="0">
                <a:solidFill>
                  <a:srgbClr val="173A31"/>
                </a:solidFill>
                <a:latin typeface="Arial"/>
                <a:ea typeface="Arial"/>
                <a:cs typeface="Arial"/>
              </a:defRPr>
            </a:lvl9pPr>
          </a:lstStyle>
          <a:p xmlns:a="http://schemas.openxmlformats.org/drawingml/2006/main">
            <a:pPr>
              <a:defRPr sz="2400" b="0">
                <a:solidFill>
                  <a:srgbClr val="173A31"/>
                </a:solidFill>
                <a:latin typeface="Arial"/>
                <a:ea typeface="Arial"/>
                <a:cs typeface="Arial"/>
              </a:defRPr>
            </a:pPr>
            <a:r>
              <a:rPr sz="2400" b="0">
                <a:solidFill>
                  <a:srgbClr val="173A31"/>
                </a:solidFill>
                <a:latin typeface="Arial"/>
                <a:ea typeface="Arial"/>
                <a:cs typeface="Arial"/>
              </a:rPr>
              <a:t>KRE: −19.91%     XLF: −2.77%     EWU: −5.52%</a:t>
            </a:r>
          </a:p>
        </p:txBody>
      </p:sp>
      <p:sp>
        <p:nvSpPr>
          <p:cNvPr id="7" name="">
            <a:extLst xmlns:a="http://schemas.openxmlformats.org/drawingml/2006/main">
              <a:ext uri="{FF2B5EF4-FFF2-40B4-BE49-F238E27FC236}">
                <a16:creationId xmlns:a16="http://schemas.microsoft.com/office/drawing/2014/main" id="{23172184-6649-49B1-965A-70AD63F5C7F6}"/>
              </a:ext>
            </a:extLst>
          </p:cNvPr>
          <p:cNvSpPr>
            <a:spLocks xmlns:a="http://schemas.openxmlformats.org/drawingml/2006/main" noGrp="1"/>
          </p:cNvSpPr>
          <p:nvPr/>
        </p:nvSpPr>
        <p:spPr>
          <a:xfrm xmlns:a="http://schemas.openxmlformats.org/drawingml/2006/main">
            <a:off x="609600" y="5391150"/>
            <a:ext cx="10620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3675D"/>
                </a:solidFill>
                <a:latin typeface="Arial"/>
                <a:ea typeface="Arial"/>
                <a:cs typeface="Arial"/>
              </a:defRPr>
            </a:defPPr>
            <a:lvl1pPr>
              <a:defRPr sz="1950" b="0">
                <a:solidFill>
                  <a:srgbClr val="53675D"/>
                </a:solidFill>
                <a:latin typeface="Arial"/>
                <a:ea typeface="Arial"/>
                <a:cs typeface="Arial"/>
              </a:defRPr>
            </a:lvl1pPr>
            <a:lvl2pPr>
              <a:defRPr sz="1950" b="0">
                <a:solidFill>
                  <a:srgbClr val="53675D"/>
                </a:solidFill>
                <a:latin typeface="Arial"/>
                <a:ea typeface="Arial"/>
                <a:cs typeface="Arial"/>
              </a:defRPr>
            </a:lvl2pPr>
            <a:lvl3pPr>
              <a:defRPr sz="1950" b="0">
                <a:solidFill>
                  <a:srgbClr val="53675D"/>
                </a:solidFill>
                <a:latin typeface="Arial"/>
                <a:ea typeface="Arial"/>
                <a:cs typeface="Arial"/>
              </a:defRPr>
            </a:lvl3pPr>
            <a:lvl4pPr>
              <a:defRPr sz="1950" b="0">
                <a:solidFill>
                  <a:srgbClr val="53675D"/>
                </a:solidFill>
                <a:latin typeface="Arial"/>
                <a:ea typeface="Arial"/>
                <a:cs typeface="Arial"/>
              </a:defRPr>
            </a:lvl4pPr>
            <a:lvl5pPr>
              <a:defRPr sz="1950" b="0">
                <a:solidFill>
                  <a:srgbClr val="53675D"/>
                </a:solidFill>
                <a:latin typeface="Arial"/>
                <a:ea typeface="Arial"/>
                <a:cs typeface="Arial"/>
              </a:defRPr>
            </a:lvl5pPr>
            <a:lvl6pPr>
              <a:defRPr sz="1950" b="0">
                <a:solidFill>
                  <a:srgbClr val="53675D"/>
                </a:solidFill>
                <a:latin typeface="Arial"/>
                <a:ea typeface="Arial"/>
                <a:cs typeface="Arial"/>
              </a:defRPr>
            </a:lvl6pPr>
            <a:lvl7pPr>
              <a:defRPr sz="1950" b="0">
                <a:solidFill>
                  <a:srgbClr val="53675D"/>
                </a:solidFill>
                <a:latin typeface="Arial"/>
                <a:ea typeface="Arial"/>
                <a:cs typeface="Arial"/>
              </a:defRPr>
            </a:lvl7pPr>
            <a:lvl8pPr>
              <a:defRPr sz="1950" b="0">
                <a:solidFill>
                  <a:srgbClr val="53675D"/>
                </a:solidFill>
                <a:latin typeface="Arial"/>
                <a:ea typeface="Arial"/>
                <a:cs typeface="Arial"/>
              </a:defRPr>
            </a:lvl8pPr>
            <a:lvl9pPr>
              <a:defRPr sz="1950" b="0">
                <a:solidFill>
                  <a:srgbClr val="53675D"/>
                </a:solidFill>
                <a:latin typeface="Arial"/>
                <a:ea typeface="Arial"/>
                <a:cs typeface="Arial"/>
              </a:defRPr>
            </a:lvl9pPr>
          </a:lstStyle>
          <a:p xmlns:a="http://schemas.openxmlformats.org/drawingml/2006/main">
            <a:pPr>
              <a:defRPr sz="1950" b="0">
                <a:solidFill>
                  <a:srgbClr val="53675D"/>
                </a:solidFill>
                <a:latin typeface="Arial"/>
                <a:ea typeface="Arial"/>
                <a:cs typeface="Arial"/>
              </a:defRPr>
            </a:pPr>
            <a:r>
              <a:rPr sz="1950" b="0">
                <a:solidFill>
                  <a:srgbClr val="53675D"/>
                </a:solidFill>
                <a:latin typeface="Arial"/>
                <a:ea typeface="Arial"/>
                <a:cs typeface="Arial"/>
              </a:rPr>
              <a:t>Selected T−1 to T+5 returns illustrate why event triage matters.</a:t>
            </a:r>
          </a:p>
          <a:p xmlns:a="http://schemas.openxmlformats.org/drawingml/2006/main">
            <a:pPr>
              <a:defRPr sz="1950" b="0">
                <a:solidFill>
                  <a:srgbClr val="53675D"/>
                </a:solidFill>
                <a:latin typeface="Arial"/>
                <a:ea typeface="Arial"/>
                <a:cs typeface="Arial"/>
              </a:defRPr>
            </a:pPr>
            <a:r>
              <a:rPr sz="1950" b="0">
                <a:solidFill>
                  <a:srgbClr val="53675D"/>
                </a:solidFill>
                <a:latin typeface="Arial"/>
                <a:ea typeface="Arial"/>
                <a:cs typeface="Arial"/>
              </a:rPr>
              <a:t>They neither establish causation nor calibrate our shocks.</a:t>
            </a:r>
          </a:p>
        </p:txBody>
      </p:sp>
    </p:spTree>
    <p:extLst>
      <p:ext uri="{BB962C8B-B14F-4D97-AF65-F5344CB8AC3E}">
        <p14:creationId xmlns:p14="http://schemas.microsoft.com/office/powerpoint/2010/main" val="538355557"/>
      </p:ext>
    </p:extLst>
  </p:cSld>
</p:sld>
</file>

<file path=ppt/slides/slide7.xml><?xml version="1.0" encoding="utf-8"?>
<p:sld xmlns:p="http://schemas.openxmlformats.org/presentationml/2006/main">
  <p:cSld>
    <p:bg>
      <p:bgPr>
        <a:solidFill xmlns:a="http://schemas.openxmlformats.org/drawingml/2006/main">
          <a:srgbClr val="F7F4E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50BC2D0-E8F7-4CE6-B17C-AEC695CF6BFD}"/>
              </a:ext>
            </a:extLst>
          </p:cNvPr>
          <p:cNvSpPr>
            <a:spLocks xmlns:a="http://schemas.openxmlformats.org/drawingml/2006/main" noGrp="1"/>
          </p:cNvSpPr>
          <p:nvPr/>
        </p:nvSpPr>
        <p:spPr>
          <a:xfrm xmlns:a="http://schemas.openxmlformats.org/drawingml/2006/main">
            <a:off x="609600" y="476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73A31"/>
                </a:solidFill>
                <a:latin typeface="Arial"/>
                <a:ea typeface="Arial"/>
                <a:cs typeface="Arial"/>
              </a:defRPr>
            </a:defPPr>
            <a:lvl1pPr>
              <a:defRPr sz="3300" b="1">
                <a:solidFill>
                  <a:srgbClr val="173A31"/>
                </a:solidFill>
                <a:latin typeface="Arial"/>
                <a:ea typeface="Arial"/>
                <a:cs typeface="Arial"/>
              </a:defRPr>
            </a:lvl1pPr>
            <a:lvl2pPr>
              <a:defRPr sz="3300" b="1">
                <a:solidFill>
                  <a:srgbClr val="173A31"/>
                </a:solidFill>
                <a:latin typeface="Arial"/>
                <a:ea typeface="Arial"/>
                <a:cs typeface="Arial"/>
              </a:defRPr>
            </a:lvl2pPr>
            <a:lvl3pPr>
              <a:defRPr sz="3300" b="1">
                <a:solidFill>
                  <a:srgbClr val="173A31"/>
                </a:solidFill>
                <a:latin typeface="Arial"/>
                <a:ea typeface="Arial"/>
                <a:cs typeface="Arial"/>
              </a:defRPr>
            </a:lvl3pPr>
            <a:lvl4pPr>
              <a:defRPr sz="3300" b="1">
                <a:solidFill>
                  <a:srgbClr val="173A31"/>
                </a:solidFill>
                <a:latin typeface="Arial"/>
                <a:ea typeface="Arial"/>
                <a:cs typeface="Arial"/>
              </a:defRPr>
            </a:lvl4pPr>
            <a:lvl5pPr>
              <a:defRPr sz="3300" b="1">
                <a:solidFill>
                  <a:srgbClr val="173A31"/>
                </a:solidFill>
                <a:latin typeface="Arial"/>
                <a:ea typeface="Arial"/>
                <a:cs typeface="Arial"/>
              </a:defRPr>
            </a:lvl5pPr>
            <a:lvl6pPr>
              <a:defRPr sz="3300" b="1">
                <a:solidFill>
                  <a:srgbClr val="173A31"/>
                </a:solidFill>
                <a:latin typeface="Arial"/>
                <a:ea typeface="Arial"/>
                <a:cs typeface="Arial"/>
              </a:defRPr>
            </a:lvl6pPr>
            <a:lvl7pPr>
              <a:defRPr sz="3300" b="1">
                <a:solidFill>
                  <a:srgbClr val="173A31"/>
                </a:solidFill>
                <a:latin typeface="Arial"/>
                <a:ea typeface="Arial"/>
                <a:cs typeface="Arial"/>
              </a:defRPr>
            </a:lvl7pPr>
            <a:lvl8pPr>
              <a:defRPr sz="3300" b="1">
                <a:solidFill>
                  <a:srgbClr val="173A31"/>
                </a:solidFill>
                <a:latin typeface="Arial"/>
                <a:ea typeface="Arial"/>
                <a:cs typeface="Arial"/>
              </a:defRPr>
            </a:lvl8pPr>
            <a:lvl9pPr>
              <a:defRPr sz="3300" b="1">
                <a:solidFill>
                  <a:srgbClr val="173A31"/>
                </a:solidFill>
                <a:latin typeface="Arial"/>
                <a:ea typeface="Arial"/>
                <a:cs typeface="Arial"/>
              </a:defRPr>
            </a:lvl9pPr>
          </a:lstStyle>
          <a:p xmlns:a="http://schemas.openxmlformats.org/drawingml/2006/main">
            <a:pPr>
              <a:defRPr sz="3300" b="1">
                <a:solidFill>
                  <a:srgbClr val="173A31"/>
                </a:solidFill>
                <a:latin typeface="Arial"/>
                <a:ea typeface="Arial"/>
                <a:cs typeface="Arial"/>
              </a:defRPr>
            </a:pPr>
            <a:r>
              <a:rPr sz="3300" b="1">
                <a:solidFill>
                  <a:srgbClr val="173A31"/>
                </a:solidFill>
                <a:latin typeface="Arial"/>
                <a:ea typeface="Arial"/>
                <a:cs typeface="Arial"/>
              </a:rPr>
              <a:t>Limits and the next validation steps</a:t>
            </a:r>
          </a:p>
        </p:txBody>
      </p:sp>
      <p:sp>
        <p:nvSpPr>
          <p:cNvPr id="2" name="">
            <a:extLst xmlns:a="http://schemas.openxmlformats.org/drawingml/2006/main">
              <a:ext uri="{FF2B5EF4-FFF2-40B4-BE49-F238E27FC236}">
                <a16:creationId xmlns:a16="http://schemas.microsoft.com/office/drawing/2014/main" id="{75F4100E-34A8-42D9-A781-C5B2C7D3FEB8}"/>
              </a:ext>
            </a:extLst>
          </p:cNvPr>
          <p:cNvSpPr>
            <a:spLocks xmlns:a="http://schemas.openxmlformats.org/drawingml/2006/main" noGrp="1"/>
          </p:cNvSpPr>
          <p:nvPr/>
        </p:nvSpPr>
        <p:spPr>
          <a:xfrm xmlns:a="http://schemas.openxmlformats.org/drawingml/2006/main">
            <a:off x="10953750" y="6286500"/>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3675D"/>
                </a:solidFill>
                <a:latin typeface="Arial"/>
                <a:ea typeface="Arial"/>
                <a:cs typeface="Arial"/>
              </a:defRPr>
            </a:defPPr>
            <a:lvl1pPr>
              <a:defRPr sz="1275" b="0">
                <a:solidFill>
                  <a:srgbClr val="53675D"/>
                </a:solidFill>
                <a:latin typeface="Arial"/>
                <a:ea typeface="Arial"/>
                <a:cs typeface="Arial"/>
              </a:defRPr>
            </a:lvl1pPr>
            <a:lvl2pPr>
              <a:defRPr sz="1275" b="0">
                <a:solidFill>
                  <a:srgbClr val="53675D"/>
                </a:solidFill>
                <a:latin typeface="Arial"/>
                <a:ea typeface="Arial"/>
                <a:cs typeface="Arial"/>
              </a:defRPr>
            </a:lvl2pPr>
            <a:lvl3pPr>
              <a:defRPr sz="1275" b="0">
                <a:solidFill>
                  <a:srgbClr val="53675D"/>
                </a:solidFill>
                <a:latin typeface="Arial"/>
                <a:ea typeface="Arial"/>
                <a:cs typeface="Arial"/>
              </a:defRPr>
            </a:lvl3pPr>
            <a:lvl4pPr>
              <a:defRPr sz="1275" b="0">
                <a:solidFill>
                  <a:srgbClr val="53675D"/>
                </a:solidFill>
                <a:latin typeface="Arial"/>
                <a:ea typeface="Arial"/>
                <a:cs typeface="Arial"/>
              </a:defRPr>
            </a:lvl4pPr>
            <a:lvl5pPr>
              <a:defRPr sz="1275" b="0">
                <a:solidFill>
                  <a:srgbClr val="53675D"/>
                </a:solidFill>
                <a:latin typeface="Arial"/>
                <a:ea typeface="Arial"/>
                <a:cs typeface="Arial"/>
              </a:defRPr>
            </a:lvl5pPr>
            <a:lvl6pPr>
              <a:defRPr sz="1275" b="0">
                <a:solidFill>
                  <a:srgbClr val="53675D"/>
                </a:solidFill>
                <a:latin typeface="Arial"/>
                <a:ea typeface="Arial"/>
                <a:cs typeface="Arial"/>
              </a:defRPr>
            </a:lvl6pPr>
            <a:lvl7pPr>
              <a:defRPr sz="1275" b="0">
                <a:solidFill>
                  <a:srgbClr val="53675D"/>
                </a:solidFill>
                <a:latin typeface="Arial"/>
                <a:ea typeface="Arial"/>
                <a:cs typeface="Arial"/>
              </a:defRPr>
            </a:lvl7pPr>
            <a:lvl8pPr>
              <a:defRPr sz="1275" b="0">
                <a:solidFill>
                  <a:srgbClr val="53675D"/>
                </a:solidFill>
                <a:latin typeface="Arial"/>
                <a:ea typeface="Arial"/>
                <a:cs typeface="Arial"/>
              </a:defRPr>
            </a:lvl8pPr>
            <a:lvl9pPr>
              <a:defRPr sz="1275" b="0">
                <a:solidFill>
                  <a:srgbClr val="53675D"/>
                </a:solidFill>
                <a:latin typeface="Arial"/>
                <a:ea typeface="Arial"/>
                <a:cs typeface="Arial"/>
              </a:defRPr>
            </a:lvl9pPr>
          </a:lstStyle>
          <a:p xmlns:a="http://schemas.openxmlformats.org/drawingml/2006/main">
            <a:pPr>
              <a:defRPr sz="1275" b="0">
                <a:solidFill>
                  <a:srgbClr val="53675D"/>
                </a:solidFill>
                <a:latin typeface="Arial"/>
                <a:ea typeface="Arial"/>
                <a:cs typeface="Arial"/>
              </a:defRPr>
            </a:pPr>
            <a:r>
              <a:rPr sz="1275" b="0">
                <a:solidFill>
                  <a:srgbClr val="53675D"/>
                </a:solidFill>
                <a:latin typeface="Arial"/>
                <a:ea typeface="Arial"/>
                <a:cs typeface="Arial"/>
              </a:rPr>
              <a:t>7 / 7</a:t>
            </a:r>
          </a:p>
        </p:txBody>
      </p:sp>
      <p:sp>
        <p:nvSpPr>
          <p:cNvPr id="3" name="">
            <a:extLst xmlns:a="http://schemas.openxmlformats.org/drawingml/2006/main">
              <a:ext uri="{FF2B5EF4-FFF2-40B4-BE49-F238E27FC236}">
                <a16:creationId xmlns:a16="http://schemas.microsoft.com/office/drawing/2014/main" id="{A44FFAF9-B51C-47E3-B31F-D746EE5D7B9C}"/>
              </a:ext>
            </a:extLst>
          </p:cNvPr>
          <p:cNvSpPr>
            <a:spLocks xmlns:a="http://schemas.openxmlformats.org/drawingml/2006/main" noGrp="1"/>
          </p:cNvSpPr>
          <p:nvPr/>
        </p:nvSpPr>
        <p:spPr>
          <a:xfrm xmlns:a="http://schemas.openxmlformats.org/drawingml/2006/main">
            <a:off x="609600" y="1619250"/>
            <a:ext cx="1047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285B4A"/>
                </a:solidFill>
                <a:latin typeface="Arial"/>
                <a:ea typeface="Arial"/>
                <a:cs typeface="Arial"/>
              </a:defRPr>
            </a:defPPr>
            <a:lvl1pPr>
              <a:defRPr sz="2325" b="1">
                <a:solidFill>
                  <a:srgbClr val="285B4A"/>
                </a:solidFill>
                <a:latin typeface="Arial"/>
                <a:ea typeface="Arial"/>
                <a:cs typeface="Arial"/>
              </a:defRPr>
            </a:lvl1pPr>
            <a:lvl2pPr>
              <a:defRPr sz="2325" b="1">
                <a:solidFill>
                  <a:srgbClr val="285B4A"/>
                </a:solidFill>
                <a:latin typeface="Arial"/>
                <a:ea typeface="Arial"/>
                <a:cs typeface="Arial"/>
              </a:defRPr>
            </a:lvl2pPr>
            <a:lvl3pPr>
              <a:defRPr sz="2325" b="1">
                <a:solidFill>
                  <a:srgbClr val="285B4A"/>
                </a:solidFill>
                <a:latin typeface="Arial"/>
                <a:ea typeface="Arial"/>
                <a:cs typeface="Arial"/>
              </a:defRPr>
            </a:lvl3pPr>
            <a:lvl4pPr>
              <a:defRPr sz="2325" b="1">
                <a:solidFill>
                  <a:srgbClr val="285B4A"/>
                </a:solidFill>
                <a:latin typeface="Arial"/>
                <a:ea typeface="Arial"/>
                <a:cs typeface="Arial"/>
              </a:defRPr>
            </a:lvl4pPr>
            <a:lvl5pPr>
              <a:defRPr sz="2325" b="1">
                <a:solidFill>
                  <a:srgbClr val="285B4A"/>
                </a:solidFill>
                <a:latin typeface="Arial"/>
                <a:ea typeface="Arial"/>
                <a:cs typeface="Arial"/>
              </a:defRPr>
            </a:lvl5pPr>
            <a:lvl6pPr>
              <a:defRPr sz="2325" b="1">
                <a:solidFill>
                  <a:srgbClr val="285B4A"/>
                </a:solidFill>
                <a:latin typeface="Arial"/>
                <a:ea typeface="Arial"/>
                <a:cs typeface="Arial"/>
              </a:defRPr>
            </a:lvl6pPr>
            <a:lvl7pPr>
              <a:defRPr sz="2325" b="1">
                <a:solidFill>
                  <a:srgbClr val="285B4A"/>
                </a:solidFill>
                <a:latin typeface="Arial"/>
                <a:ea typeface="Arial"/>
                <a:cs typeface="Arial"/>
              </a:defRPr>
            </a:lvl7pPr>
            <a:lvl8pPr>
              <a:defRPr sz="2325" b="1">
                <a:solidFill>
                  <a:srgbClr val="285B4A"/>
                </a:solidFill>
                <a:latin typeface="Arial"/>
                <a:ea typeface="Arial"/>
                <a:cs typeface="Arial"/>
              </a:defRPr>
            </a:lvl8pPr>
            <a:lvl9pPr>
              <a:defRPr sz="2325" b="1">
                <a:solidFill>
                  <a:srgbClr val="285B4A"/>
                </a:solidFill>
                <a:latin typeface="Arial"/>
                <a:ea typeface="Arial"/>
                <a:cs typeface="Arial"/>
              </a:defRPr>
            </a:lvl9pPr>
          </a:lstStyle>
          <a:p xmlns:a="http://schemas.openxmlformats.org/drawingml/2006/main">
            <a:pPr>
              <a:defRPr sz="2325" b="1">
                <a:solidFill>
                  <a:srgbClr val="285B4A"/>
                </a:solidFill>
                <a:latin typeface="Arial"/>
                <a:ea typeface="Arial"/>
                <a:cs typeface="Arial"/>
              </a:defRPr>
            </a:pPr>
            <a:r>
              <a:rPr sz="2325" b="1">
                <a:solidFill>
                  <a:srgbClr val="285B4A"/>
                </a:solidFill>
                <a:latin typeface="Arial"/>
                <a:ea typeface="Arial"/>
                <a:cs typeface="Arial"/>
              </a:rPr>
              <a:t>What this prototype establishes</a:t>
            </a:r>
          </a:p>
        </p:txBody>
      </p:sp>
      <p:sp>
        <p:nvSpPr>
          <p:cNvPr id="4" name="">
            <a:extLst xmlns:a="http://schemas.openxmlformats.org/drawingml/2006/main">
              <a:ext uri="{FF2B5EF4-FFF2-40B4-BE49-F238E27FC236}">
                <a16:creationId xmlns:a16="http://schemas.microsoft.com/office/drawing/2014/main" id="{C62171BB-0832-4699-833E-53F7E8FD9299}"/>
              </a:ext>
            </a:extLst>
          </p:cNvPr>
          <p:cNvSpPr>
            <a:spLocks xmlns:a="http://schemas.openxmlformats.org/drawingml/2006/main" noGrp="1"/>
          </p:cNvSpPr>
          <p:nvPr/>
        </p:nvSpPr>
        <p:spPr>
          <a:xfrm xmlns:a="http://schemas.openxmlformats.org/drawingml/2006/main">
            <a:off x="609600" y="2247900"/>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73A31"/>
                </a:solidFill>
                <a:latin typeface="Arial"/>
                <a:ea typeface="Arial"/>
                <a:cs typeface="Arial"/>
              </a:defRPr>
            </a:defPPr>
            <a:lvl1pPr>
              <a:defRPr sz="2175" b="0">
                <a:solidFill>
                  <a:srgbClr val="173A31"/>
                </a:solidFill>
                <a:latin typeface="Arial"/>
                <a:ea typeface="Arial"/>
                <a:cs typeface="Arial"/>
              </a:defRPr>
            </a:lvl1pPr>
            <a:lvl2pPr>
              <a:defRPr sz="2175" b="0">
                <a:solidFill>
                  <a:srgbClr val="173A31"/>
                </a:solidFill>
                <a:latin typeface="Arial"/>
                <a:ea typeface="Arial"/>
                <a:cs typeface="Arial"/>
              </a:defRPr>
            </a:lvl2pPr>
            <a:lvl3pPr>
              <a:defRPr sz="2175" b="0">
                <a:solidFill>
                  <a:srgbClr val="173A31"/>
                </a:solidFill>
                <a:latin typeface="Arial"/>
                <a:ea typeface="Arial"/>
                <a:cs typeface="Arial"/>
              </a:defRPr>
            </a:lvl3pPr>
            <a:lvl4pPr>
              <a:defRPr sz="2175" b="0">
                <a:solidFill>
                  <a:srgbClr val="173A31"/>
                </a:solidFill>
                <a:latin typeface="Arial"/>
                <a:ea typeface="Arial"/>
                <a:cs typeface="Arial"/>
              </a:defRPr>
            </a:lvl4pPr>
            <a:lvl5pPr>
              <a:defRPr sz="2175" b="0">
                <a:solidFill>
                  <a:srgbClr val="173A31"/>
                </a:solidFill>
                <a:latin typeface="Arial"/>
                <a:ea typeface="Arial"/>
                <a:cs typeface="Arial"/>
              </a:defRPr>
            </a:lvl5pPr>
            <a:lvl6pPr>
              <a:defRPr sz="2175" b="0">
                <a:solidFill>
                  <a:srgbClr val="173A31"/>
                </a:solidFill>
                <a:latin typeface="Arial"/>
                <a:ea typeface="Arial"/>
                <a:cs typeface="Arial"/>
              </a:defRPr>
            </a:lvl6pPr>
            <a:lvl7pPr>
              <a:defRPr sz="2175" b="0">
                <a:solidFill>
                  <a:srgbClr val="173A31"/>
                </a:solidFill>
                <a:latin typeface="Arial"/>
                <a:ea typeface="Arial"/>
                <a:cs typeface="Arial"/>
              </a:defRPr>
            </a:lvl7pPr>
            <a:lvl8pPr>
              <a:defRPr sz="2175" b="0">
                <a:solidFill>
                  <a:srgbClr val="173A31"/>
                </a:solidFill>
                <a:latin typeface="Arial"/>
                <a:ea typeface="Arial"/>
                <a:cs typeface="Arial"/>
              </a:defRPr>
            </a:lvl8pPr>
            <a:lvl9pPr>
              <a:defRPr sz="2175" b="0">
                <a:solidFill>
                  <a:srgbClr val="173A31"/>
                </a:solidFill>
                <a:latin typeface="Arial"/>
                <a:ea typeface="Arial"/>
                <a:cs typeface="Arial"/>
              </a:defRPr>
            </a:lvl9pPr>
          </a:lstStyle>
          <a:p xmlns:a="http://schemas.openxmlformats.org/drawingml/2006/main">
            <a:pPr>
              <a:defRPr sz="2175" b="0">
                <a:solidFill>
                  <a:srgbClr val="173A31"/>
                </a:solidFill>
                <a:latin typeface="Arial"/>
                <a:ea typeface="Arial"/>
                <a:cs typeface="Arial"/>
              </a:defRPr>
            </a:pPr>
            <a:r>
              <a:rPr sz="2175" b="0">
                <a:solidFill>
                  <a:srgbClr val="173A31"/>
                </a:solidFill>
                <a:latin typeface="Arial"/>
                <a:ea typeface="Arial"/>
                <a:cs typeface="Arial"/>
              </a:rPr>
              <a:t>A reproducible headline-to-scenario workflow with issuer filtering,</a:t>
            </a:r>
          </a:p>
          <a:p xmlns:a="http://schemas.openxmlformats.org/drawingml/2006/main">
            <a:pPr>
              <a:defRPr sz="2175" b="0">
                <a:solidFill>
                  <a:srgbClr val="173A31"/>
                </a:solidFill>
                <a:latin typeface="Arial"/>
                <a:ea typeface="Arial"/>
                <a:cs typeface="Arial"/>
              </a:defRPr>
            </a:pPr>
            <a:r>
              <a:rPr sz="2175" b="0">
                <a:solidFill>
                  <a:srgbClr val="173A31"/>
                </a:solidFill>
                <a:latin typeface="Arial"/>
                <a:ea typeface="Arial"/>
                <a:cs typeface="Arial"/>
              </a:rPr>
              <a:t>position attribution and explicit assumptions.</a:t>
            </a:r>
          </a:p>
        </p:txBody>
      </p:sp>
      <p:sp>
        <p:nvSpPr>
          <p:cNvPr id="5" name="">
            <a:extLst xmlns:a="http://schemas.openxmlformats.org/drawingml/2006/main">
              <a:ext uri="{FF2B5EF4-FFF2-40B4-BE49-F238E27FC236}">
                <a16:creationId xmlns:a16="http://schemas.microsoft.com/office/drawing/2014/main" id="{E0FE4FD9-1197-4E87-91BF-49B3A8979CF2}"/>
              </a:ext>
            </a:extLst>
          </p:cNvPr>
          <p:cNvSpPr>
            <a:spLocks xmlns:a="http://schemas.openxmlformats.org/drawingml/2006/main" noGrp="1"/>
          </p:cNvSpPr>
          <p:nvPr/>
        </p:nvSpPr>
        <p:spPr>
          <a:xfrm xmlns:a="http://schemas.openxmlformats.org/drawingml/2006/main">
            <a:off x="609600" y="35052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C66A4A"/>
                </a:solidFill>
                <a:latin typeface="Arial"/>
                <a:ea typeface="Arial"/>
                <a:cs typeface="Arial"/>
              </a:defRPr>
            </a:defPPr>
            <a:lvl1pPr>
              <a:defRPr sz="2100" b="1">
                <a:solidFill>
                  <a:srgbClr val="C66A4A"/>
                </a:solidFill>
                <a:latin typeface="Arial"/>
                <a:ea typeface="Arial"/>
                <a:cs typeface="Arial"/>
              </a:defRPr>
            </a:lvl1pPr>
            <a:lvl2pPr>
              <a:defRPr sz="2100" b="1">
                <a:solidFill>
                  <a:srgbClr val="C66A4A"/>
                </a:solidFill>
                <a:latin typeface="Arial"/>
                <a:ea typeface="Arial"/>
                <a:cs typeface="Arial"/>
              </a:defRPr>
            </a:lvl2pPr>
            <a:lvl3pPr>
              <a:defRPr sz="2100" b="1">
                <a:solidFill>
                  <a:srgbClr val="C66A4A"/>
                </a:solidFill>
                <a:latin typeface="Arial"/>
                <a:ea typeface="Arial"/>
                <a:cs typeface="Arial"/>
              </a:defRPr>
            </a:lvl3pPr>
            <a:lvl4pPr>
              <a:defRPr sz="2100" b="1">
                <a:solidFill>
                  <a:srgbClr val="C66A4A"/>
                </a:solidFill>
                <a:latin typeface="Arial"/>
                <a:ea typeface="Arial"/>
                <a:cs typeface="Arial"/>
              </a:defRPr>
            </a:lvl4pPr>
            <a:lvl5pPr>
              <a:defRPr sz="2100" b="1">
                <a:solidFill>
                  <a:srgbClr val="C66A4A"/>
                </a:solidFill>
                <a:latin typeface="Arial"/>
                <a:ea typeface="Arial"/>
                <a:cs typeface="Arial"/>
              </a:defRPr>
            </a:lvl5pPr>
            <a:lvl6pPr>
              <a:defRPr sz="2100" b="1">
                <a:solidFill>
                  <a:srgbClr val="C66A4A"/>
                </a:solidFill>
                <a:latin typeface="Arial"/>
                <a:ea typeface="Arial"/>
                <a:cs typeface="Arial"/>
              </a:defRPr>
            </a:lvl6pPr>
            <a:lvl7pPr>
              <a:defRPr sz="2100" b="1">
                <a:solidFill>
                  <a:srgbClr val="C66A4A"/>
                </a:solidFill>
                <a:latin typeface="Arial"/>
                <a:ea typeface="Arial"/>
                <a:cs typeface="Arial"/>
              </a:defRPr>
            </a:lvl7pPr>
            <a:lvl8pPr>
              <a:defRPr sz="2100" b="1">
                <a:solidFill>
                  <a:srgbClr val="C66A4A"/>
                </a:solidFill>
                <a:latin typeface="Arial"/>
                <a:ea typeface="Arial"/>
                <a:cs typeface="Arial"/>
              </a:defRPr>
            </a:lvl8pPr>
            <a:lvl9pPr>
              <a:defRPr sz="2100" b="1">
                <a:solidFill>
                  <a:srgbClr val="C66A4A"/>
                </a:solidFill>
                <a:latin typeface="Arial"/>
                <a:ea typeface="Arial"/>
                <a:cs typeface="Arial"/>
              </a:defRPr>
            </a:lvl9pPr>
          </a:lstStyle>
          <a:p xmlns:a="http://schemas.openxmlformats.org/drawingml/2006/main">
            <a:pPr>
              <a:defRPr sz="2100" b="1">
                <a:solidFill>
                  <a:srgbClr val="C66A4A"/>
                </a:solidFill>
                <a:latin typeface="Arial"/>
                <a:ea typeface="Arial"/>
                <a:cs typeface="Arial"/>
              </a:defRPr>
            </a:pPr>
            <a:r>
              <a:rPr sz="2100" b="1">
                <a:solidFill>
                  <a:srgbClr val="C66A4A"/>
                </a:solidFill>
                <a:latin typeface="Arial"/>
                <a:ea typeface="Arial"/>
                <a:cs typeface="Arial"/>
              </a:rPr>
              <a:t>What remains unvalidated</a:t>
            </a:r>
          </a:p>
        </p:txBody>
      </p:sp>
      <p:sp>
        <p:nvSpPr>
          <p:cNvPr id="6" name="">
            <a:extLst xmlns:a="http://schemas.openxmlformats.org/drawingml/2006/main">
              <a:ext uri="{FF2B5EF4-FFF2-40B4-BE49-F238E27FC236}">
                <a16:creationId xmlns:a16="http://schemas.microsoft.com/office/drawing/2014/main" id="{A6492FC8-57EC-434A-9AFC-F62A5FF44A3F}"/>
              </a:ext>
            </a:extLst>
          </p:cNvPr>
          <p:cNvSpPr>
            <a:spLocks xmlns:a="http://schemas.openxmlformats.org/drawingml/2006/main" noGrp="1"/>
          </p:cNvSpPr>
          <p:nvPr/>
        </p:nvSpPr>
        <p:spPr>
          <a:xfrm xmlns:a="http://schemas.openxmlformats.org/drawingml/2006/main">
            <a:off x="609600" y="4143375"/>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A31"/>
                </a:solidFill>
                <a:latin typeface="Arial"/>
                <a:ea typeface="Arial"/>
                <a:cs typeface="Arial"/>
              </a:defRPr>
            </a:defPPr>
            <a:lvl1pPr>
              <a:defRPr sz="2025" b="0">
                <a:solidFill>
                  <a:srgbClr val="173A31"/>
                </a:solidFill>
                <a:latin typeface="Arial"/>
                <a:ea typeface="Arial"/>
                <a:cs typeface="Arial"/>
              </a:defRPr>
            </a:lvl1pPr>
            <a:lvl2pPr>
              <a:defRPr sz="2025" b="0">
                <a:solidFill>
                  <a:srgbClr val="173A31"/>
                </a:solidFill>
                <a:latin typeface="Arial"/>
                <a:ea typeface="Arial"/>
                <a:cs typeface="Arial"/>
              </a:defRPr>
            </a:lvl2pPr>
            <a:lvl3pPr>
              <a:defRPr sz="2025" b="0">
                <a:solidFill>
                  <a:srgbClr val="173A31"/>
                </a:solidFill>
                <a:latin typeface="Arial"/>
                <a:ea typeface="Arial"/>
                <a:cs typeface="Arial"/>
              </a:defRPr>
            </a:lvl3pPr>
            <a:lvl4pPr>
              <a:defRPr sz="2025" b="0">
                <a:solidFill>
                  <a:srgbClr val="173A31"/>
                </a:solidFill>
                <a:latin typeface="Arial"/>
                <a:ea typeface="Arial"/>
                <a:cs typeface="Arial"/>
              </a:defRPr>
            </a:lvl4pPr>
            <a:lvl5pPr>
              <a:defRPr sz="2025" b="0">
                <a:solidFill>
                  <a:srgbClr val="173A31"/>
                </a:solidFill>
                <a:latin typeface="Arial"/>
                <a:ea typeface="Arial"/>
                <a:cs typeface="Arial"/>
              </a:defRPr>
            </a:lvl5pPr>
            <a:lvl6pPr>
              <a:defRPr sz="2025" b="0">
                <a:solidFill>
                  <a:srgbClr val="173A31"/>
                </a:solidFill>
                <a:latin typeface="Arial"/>
                <a:ea typeface="Arial"/>
                <a:cs typeface="Arial"/>
              </a:defRPr>
            </a:lvl6pPr>
            <a:lvl7pPr>
              <a:defRPr sz="2025" b="0">
                <a:solidFill>
                  <a:srgbClr val="173A31"/>
                </a:solidFill>
                <a:latin typeface="Arial"/>
                <a:ea typeface="Arial"/>
                <a:cs typeface="Arial"/>
              </a:defRPr>
            </a:lvl7pPr>
            <a:lvl8pPr>
              <a:defRPr sz="2025" b="0">
                <a:solidFill>
                  <a:srgbClr val="173A31"/>
                </a:solidFill>
                <a:latin typeface="Arial"/>
                <a:ea typeface="Arial"/>
                <a:cs typeface="Arial"/>
              </a:defRPr>
            </a:lvl8pPr>
            <a:lvl9pPr>
              <a:defRPr sz="2025" b="0">
                <a:solidFill>
                  <a:srgbClr val="173A31"/>
                </a:solidFill>
                <a:latin typeface="Arial"/>
                <a:ea typeface="Arial"/>
                <a:cs typeface="Arial"/>
              </a:defRPr>
            </a:lvl9pPr>
          </a:lstStyle>
          <a:p xmlns:a="http://schemas.openxmlformats.org/drawingml/2006/main">
            <a:pPr>
              <a:defRPr sz="2025" b="0">
                <a:solidFill>
                  <a:srgbClr val="173A31"/>
                </a:solidFill>
                <a:latin typeface="Arial"/>
                <a:ea typeface="Arial"/>
                <a:cs typeface="Arial"/>
              </a:defRPr>
            </a:pPr>
            <a:r>
              <a:rPr sz="2025" b="0">
                <a:solidFill>
                  <a:srgbClr val="173A31"/>
                </a:solidFill>
                <a:latin typeface="Arial"/>
                <a:ea typeface="Arial"/>
                <a:cs typeface="Arial"/>
              </a:rPr>
              <a:t>Contextual event understanding</a:t>
            </a:r>
          </a:p>
          <a:p xmlns:a="http://schemas.openxmlformats.org/drawingml/2006/main">
            <a:pPr>
              <a:defRPr sz="2025" b="0">
                <a:solidFill>
                  <a:srgbClr val="173A31"/>
                </a:solidFill>
                <a:latin typeface="Arial"/>
                <a:ea typeface="Arial"/>
                <a:cs typeface="Arial"/>
              </a:defRPr>
            </a:pPr>
            <a:r>
              <a:rPr sz="2025" b="0">
                <a:solidFill>
                  <a:srgbClr val="173A31"/>
                </a:solidFill>
                <a:latin typeface="Arial"/>
                <a:ea typeface="Arial"/>
                <a:cs typeface="Arial"/>
              </a:rPr>
              <a:t>Shock calibration and contagion</a:t>
            </a:r>
          </a:p>
          <a:p xmlns:a="http://schemas.openxmlformats.org/drawingml/2006/main">
            <a:pPr>
              <a:defRPr sz="2025" b="0">
                <a:solidFill>
                  <a:srgbClr val="173A31"/>
                </a:solidFill>
                <a:latin typeface="Arial"/>
                <a:ea typeface="Arial"/>
                <a:cs typeface="Arial"/>
              </a:defRPr>
            </a:pPr>
            <a:r>
              <a:rPr sz="2025" b="0">
                <a:solidFill>
                  <a:srgbClr val="173A31"/>
                </a:solidFill>
                <a:latin typeface="Arial"/>
                <a:ea typeface="Arial"/>
                <a:cs typeface="Arial"/>
              </a:rPr>
              <a:t>Bond and derivative repricing</a:t>
            </a:r>
          </a:p>
        </p:txBody>
      </p:sp>
      <p:sp>
        <p:nvSpPr>
          <p:cNvPr id="7" name="">
            <a:extLst xmlns:a="http://schemas.openxmlformats.org/drawingml/2006/main">
              <a:ext uri="{FF2B5EF4-FFF2-40B4-BE49-F238E27FC236}">
                <a16:creationId xmlns:a16="http://schemas.microsoft.com/office/drawing/2014/main" id="{36F54872-88FC-4FF5-B79A-520FF9365B3E}"/>
              </a:ext>
            </a:extLst>
          </p:cNvPr>
          <p:cNvSpPr>
            <a:spLocks xmlns:a="http://schemas.openxmlformats.org/drawingml/2006/main" noGrp="1"/>
          </p:cNvSpPr>
          <p:nvPr/>
        </p:nvSpPr>
        <p:spPr>
          <a:xfrm xmlns:a="http://schemas.openxmlformats.org/drawingml/2006/main">
            <a:off x="6667500" y="350520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285B4A"/>
                </a:solidFill>
                <a:latin typeface="Arial"/>
                <a:ea typeface="Arial"/>
                <a:cs typeface="Arial"/>
              </a:defRPr>
            </a:defPPr>
            <a:lvl1pPr>
              <a:defRPr sz="2100" b="1">
                <a:solidFill>
                  <a:srgbClr val="285B4A"/>
                </a:solidFill>
                <a:latin typeface="Arial"/>
                <a:ea typeface="Arial"/>
                <a:cs typeface="Arial"/>
              </a:defRPr>
            </a:lvl1pPr>
            <a:lvl2pPr>
              <a:defRPr sz="2100" b="1">
                <a:solidFill>
                  <a:srgbClr val="285B4A"/>
                </a:solidFill>
                <a:latin typeface="Arial"/>
                <a:ea typeface="Arial"/>
                <a:cs typeface="Arial"/>
              </a:defRPr>
            </a:lvl2pPr>
            <a:lvl3pPr>
              <a:defRPr sz="2100" b="1">
                <a:solidFill>
                  <a:srgbClr val="285B4A"/>
                </a:solidFill>
                <a:latin typeface="Arial"/>
                <a:ea typeface="Arial"/>
                <a:cs typeface="Arial"/>
              </a:defRPr>
            </a:lvl3pPr>
            <a:lvl4pPr>
              <a:defRPr sz="2100" b="1">
                <a:solidFill>
                  <a:srgbClr val="285B4A"/>
                </a:solidFill>
                <a:latin typeface="Arial"/>
                <a:ea typeface="Arial"/>
                <a:cs typeface="Arial"/>
              </a:defRPr>
            </a:lvl4pPr>
            <a:lvl5pPr>
              <a:defRPr sz="2100" b="1">
                <a:solidFill>
                  <a:srgbClr val="285B4A"/>
                </a:solidFill>
                <a:latin typeface="Arial"/>
                <a:ea typeface="Arial"/>
                <a:cs typeface="Arial"/>
              </a:defRPr>
            </a:lvl5pPr>
            <a:lvl6pPr>
              <a:defRPr sz="2100" b="1">
                <a:solidFill>
                  <a:srgbClr val="285B4A"/>
                </a:solidFill>
                <a:latin typeface="Arial"/>
                <a:ea typeface="Arial"/>
                <a:cs typeface="Arial"/>
              </a:defRPr>
            </a:lvl6pPr>
            <a:lvl7pPr>
              <a:defRPr sz="2100" b="1">
                <a:solidFill>
                  <a:srgbClr val="285B4A"/>
                </a:solidFill>
                <a:latin typeface="Arial"/>
                <a:ea typeface="Arial"/>
                <a:cs typeface="Arial"/>
              </a:defRPr>
            </a:lvl7pPr>
            <a:lvl8pPr>
              <a:defRPr sz="2100" b="1">
                <a:solidFill>
                  <a:srgbClr val="285B4A"/>
                </a:solidFill>
                <a:latin typeface="Arial"/>
                <a:ea typeface="Arial"/>
                <a:cs typeface="Arial"/>
              </a:defRPr>
            </a:lvl8pPr>
            <a:lvl9pPr>
              <a:defRPr sz="2100" b="1">
                <a:solidFill>
                  <a:srgbClr val="285B4A"/>
                </a:solidFill>
                <a:latin typeface="Arial"/>
                <a:ea typeface="Arial"/>
                <a:cs typeface="Arial"/>
              </a:defRPr>
            </a:lvl9pPr>
          </a:lstStyle>
          <a:p xmlns:a="http://schemas.openxmlformats.org/drawingml/2006/main">
            <a:pPr>
              <a:defRPr sz="2100" b="1">
                <a:solidFill>
                  <a:srgbClr val="285B4A"/>
                </a:solidFill>
                <a:latin typeface="Arial"/>
                <a:ea typeface="Arial"/>
                <a:cs typeface="Arial"/>
              </a:defRPr>
            </a:pPr>
            <a:r>
              <a:rPr sz="2100" b="1">
                <a:solidFill>
                  <a:srgbClr val="285B4A"/>
                </a:solidFill>
                <a:latin typeface="Arial"/>
                <a:ea typeface="Arial"/>
                <a:cs typeface="Arial"/>
              </a:rPr>
              <a:t>Next experiments</a:t>
            </a:r>
          </a:p>
        </p:txBody>
      </p:sp>
      <p:sp>
        <p:nvSpPr>
          <p:cNvPr id="8" name="">
            <a:extLst xmlns:a="http://schemas.openxmlformats.org/drawingml/2006/main">
              <a:ext uri="{FF2B5EF4-FFF2-40B4-BE49-F238E27FC236}">
                <a16:creationId xmlns:a16="http://schemas.microsoft.com/office/drawing/2014/main" id="{0895B545-16F9-4B1D-A87A-540DE824FEA7}"/>
              </a:ext>
            </a:extLst>
          </p:cNvPr>
          <p:cNvSpPr>
            <a:spLocks xmlns:a="http://schemas.openxmlformats.org/drawingml/2006/main" noGrp="1"/>
          </p:cNvSpPr>
          <p:nvPr/>
        </p:nvSpPr>
        <p:spPr>
          <a:xfrm xmlns:a="http://schemas.openxmlformats.org/drawingml/2006/main">
            <a:off x="6667500" y="4143375"/>
            <a:ext cx="4953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73A31"/>
                </a:solidFill>
                <a:latin typeface="Arial"/>
                <a:ea typeface="Arial"/>
                <a:cs typeface="Arial"/>
              </a:defRPr>
            </a:defPPr>
            <a:lvl1pPr>
              <a:defRPr sz="2025" b="0">
                <a:solidFill>
                  <a:srgbClr val="173A31"/>
                </a:solidFill>
                <a:latin typeface="Arial"/>
                <a:ea typeface="Arial"/>
                <a:cs typeface="Arial"/>
              </a:defRPr>
            </a:lvl1pPr>
            <a:lvl2pPr>
              <a:defRPr sz="2025" b="0">
                <a:solidFill>
                  <a:srgbClr val="173A31"/>
                </a:solidFill>
                <a:latin typeface="Arial"/>
                <a:ea typeface="Arial"/>
                <a:cs typeface="Arial"/>
              </a:defRPr>
            </a:lvl2pPr>
            <a:lvl3pPr>
              <a:defRPr sz="2025" b="0">
                <a:solidFill>
                  <a:srgbClr val="173A31"/>
                </a:solidFill>
                <a:latin typeface="Arial"/>
                <a:ea typeface="Arial"/>
                <a:cs typeface="Arial"/>
              </a:defRPr>
            </a:lvl3pPr>
            <a:lvl4pPr>
              <a:defRPr sz="2025" b="0">
                <a:solidFill>
                  <a:srgbClr val="173A31"/>
                </a:solidFill>
                <a:latin typeface="Arial"/>
                <a:ea typeface="Arial"/>
                <a:cs typeface="Arial"/>
              </a:defRPr>
            </a:lvl4pPr>
            <a:lvl5pPr>
              <a:defRPr sz="2025" b="0">
                <a:solidFill>
                  <a:srgbClr val="173A31"/>
                </a:solidFill>
                <a:latin typeface="Arial"/>
                <a:ea typeface="Arial"/>
                <a:cs typeface="Arial"/>
              </a:defRPr>
            </a:lvl5pPr>
            <a:lvl6pPr>
              <a:defRPr sz="2025" b="0">
                <a:solidFill>
                  <a:srgbClr val="173A31"/>
                </a:solidFill>
                <a:latin typeface="Arial"/>
                <a:ea typeface="Arial"/>
                <a:cs typeface="Arial"/>
              </a:defRPr>
            </a:lvl6pPr>
            <a:lvl7pPr>
              <a:defRPr sz="2025" b="0">
                <a:solidFill>
                  <a:srgbClr val="173A31"/>
                </a:solidFill>
                <a:latin typeface="Arial"/>
                <a:ea typeface="Arial"/>
                <a:cs typeface="Arial"/>
              </a:defRPr>
            </a:lvl7pPr>
            <a:lvl8pPr>
              <a:defRPr sz="2025" b="0">
                <a:solidFill>
                  <a:srgbClr val="173A31"/>
                </a:solidFill>
                <a:latin typeface="Arial"/>
                <a:ea typeface="Arial"/>
                <a:cs typeface="Arial"/>
              </a:defRPr>
            </a:lvl8pPr>
            <a:lvl9pPr>
              <a:defRPr sz="2025" b="0">
                <a:solidFill>
                  <a:srgbClr val="173A31"/>
                </a:solidFill>
                <a:latin typeface="Arial"/>
                <a:ea typeface="Arial"/>
                <a:cs typeface="Arial"/>
              </a:defRPr>
            </a:lvl9pPr>
          </a:lstStyle>
          <a:p xmlns:a="http://schemas.openxmlformats.org/drawingml/2006/main">
            <a:pPr>
              <a:defRPr sz="2025" b="0">
                <a:solidFill>
                  <a:srgbClr val="173A31"/>
                </a:solidFill>
                <a:latin typeface="Arial"/>
                <a:ea typeface="Arial"/>
                <a:cs typeface="Arial"/>
              </a:defRPr>
            </a:pPr>
            <a:r>
              <a:rPr sz="2025" b="0">
                <a:solidFill>
                  <a:srgbClr val="173A31"/>
                </a:solidFill>
                <a:latin typeface="Arial"/>
                <a:ea typeface="Arial"/>
                <a:cs typeface="Arial"/>
              </a:rPr>
              <a:t>Measure a contextual NLP baseline</a:t>
            </a:r>
          </a:p>
          <a:p xmlns:a="http://schemas.openxmlformats.org/drawingml/2006/main">
            <a:pPr>
              <a:defRPr sz="2025" b="0">
                <a:solidFill>
                  <a:srgbClr val="173A31"/>
                </a:solidFill>
                <a:latin typeface="Arial"/>
                <a:ea typeface="Arial"/>
                <a:cs typeface="Arial"/>
              </a:defRPr>
            </a:pPr>
            <a:r>
              <a:rPr sz="2025" b="0">
                <a:solidFill>
                  <a:srgbClr val="173A31"/>
                </a:solidFill>
                <a:latin typeface="Arial"/>
                <a:ea typeface="Arial"/>
                <a:cs typeface="Arial"/>
              </a:rPr>
              <a:t>Use held-out events for calibration</a:t>
            </a:r>
          </a:p>
          <a:p xmlns:a="http://schemas.openxmlformats.org/drawingml/2006/main">
            <a:pPr>
              <a:defRPr sz="2025" b="0">
                <a:solidFill>
                  <a:srgbClr val="173A31"/>
                </a:solidFill>
                <a:latin typeface="Arial"/>
                <a:ea typeface="Arial"/>
                <a:cs typeface="Arial"/>
              </a:defRPr>
            </a:pPr>
            <a:r>
              <a:rPr sz="2025" b="0">
                <a:solidFill>
                  <a:srgbClr val="173A31"/>
                </a:solidFill>
                <a:latin typeface="Arial"/>
                <a:ea typeface="Arial"/>
                <a:cs typeface="Arial"/>
              </a:rPr>
              <a:t>Add duration and DV01 sensitivities</a:t>
            </a:r>
          </a:p>
        </p:txBody>
      </p:sp>
      <p:sp>
        <p:nvSpPr>
          <p:cNvPr id="9" name="">
            <a:extLst xmlns:a="http://schemas.openxmlformats.org/drawingml/2006/main">
              <a:ext uri="{FF2B5EF4-FFF2-40B4-BE49-F238E27FC236}">
                <a16:creationId xmlns:a16="http://schemas.microsoft.com/office/drawing/2014/main" id="{C54A8FA6-CA18-43C6-BD0C-7FB8DDFECEFA}"/>
              </a:ext>
            </a:extLst>
          </p:cNvPr>
          <p:cNvSpPr>
            <a:spLocks xmlns:a="http://schemas.openxmlformats.org/drawingml/2006/main" noGrp="1"/>
          </p:cNvSpPr>
          <p:nvPr/>
        </p:nvSpPr>
        <p:spPr>
          <a:xfrm xmlns:a="http://schemas.openxmlformats.org/drawingml/2006/main">
            <a:off x="609600" y="585787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3675D"/>
                </a:solidFill>
                <a:latin typeface="Arial"/>
                <a:ea typeface="Arial"/>
                <a:cs typeface="Arial"/>
              </a:defRPr>
            </a:defPPr>
            <a:lvl1pPr>
              <a:defRPr sz="1725" b="0">
                <a:solidFill>
                  <a:srgbClr val="53675D"/>
                </a:solidFill>
                <a:latin typeface="Arial"/>
                <a:ea typeface="Arial"/>
                <a:cs typeface="Arial"/>
              </a:defRPr>
            </a:lvl1pPr>
            <a:lvl2pPr>
              <a:defRPr sz="1725" b="0">
                <a:solidFill>
                  <a:srgbClr val="53675D"/>
                </a:solidFill>
                <a:latin typeface="Arial"/>
                <a:ea typeface="Arial"/>
                <a:cs typeface="Arial"/>
              </a:defRPr>
            </a:lvl2pPr>
            <a:lvl3pPr>
              <a:defRPr sz="1725" b="0">
                <a:solidFill>
                  <a:srgbClr val="53675D"/>
                </a:solidFill>
                <a:latin typeface="Arial"/>
                <a:ea typeface="Arial"/>
                <a:cs typeface="Arial"/>
              </a:defRPr>
            </a:lvl3pPr>
            <a:lvl4pPr>
              <a:defRPr sz="1725" b="0">
                <a:solidFill>
                  <a:srgbClr val="53675D"/>
                </a:solidFill>
                <a:latin typeface="Arial"/>
                <a:ea typeface="Arial"/>
                <a:cs typeface="Arial"/>
              </a:defRPr>
            </a:lvl4pPr>
            <a:lvl5pPr>
              <a:defRPr sz="1725" b="0">
                <a:solidFill>
                  <a:srgbClr val="53675D"/>
                </a:solidFill>
                <a:latin typeface="Arial"/>
                <a:ea typeface="Arial"/>
                <a:cs typeface="Arial"/>
              </a:defRPr>
            </a:lvl5pPr>
            <a:lvl6pPr>
              <a:defRPr sz="1725" b="0">
                <a:solidFill>
                  <a:srgbClr val="53675D"/>
                </a:solidFill>
                <a:latin typeface="Arial"/>
                <a:ea typeface="Arial"/>
                <a:cs typeface="Arial"/>
              </a:defRPr>
            </a:lvl6pPr>
            <a:lvl7pPr>
              <a:defRPr sz="1725" b="0">
                <a:solidFill>
                  <a:srgbClr val="53675D"/>
                </a:solidFill>
                <a:latin typeface="Arial"/>
                <a:ea typeface="Arial"/>
                <a:cs typeface="Arial"/>
              </a:defRPr>
            </a:lvl7pPr>
            <a:lvl8pPr>
              <a:defRPr sz="1725" b="0">
                <a:solidFill>
                  <a:srgbClr val="53675D"/>
                </a:solidFill>
                <a:latin typeface="Arial"/>
                <a:ea typeface="Arial"/>
                <a:cs typeface="Arial"/>
              </a:defRPr>
            </a:lvl8pPr>
            <a:lvl9pPr>
              <a:defRPr sz="1725" b="0">
                <a:solidFill>
                  <a:srgbClr val="53675D"/>
                </a:solidFill>
                <a:latin typeface="Arial"/>
                <a:ea typeface="Arial"/>
                <a:cs typeface="Arial"/>
              </a:defRPr>
            </a:lvl9pPr>
          </a:lstStyle>
          <a:p xmlns:a="http://schemas.openxmlformats.org/drawingml/2006/main">
            <a:pPr>
              <a:defRPr sz="1725" b="0">
                <a:solidFill>
                  <a:srgbClr val="53675D"/>
                </a:solidFill>
                <a:latin typeface="Arial"/>
                <a:ea typeface="Arial"/>
                <a:cs typeface="Arial"/>
              </a:defRPr>
            </a:pPr>
            <a:r>
              <a:rPr sz="1725" b="0">
                <a:solidFill>
                  <a:srgbClr val="53675D"/>
                </a:solidFill>
                <a:latin typeface="Arial"/>
                <a:ea typeface="Arial"/>
                <a:cs typeface="Arial"/>
              </a:rPr>
              <a:t>No trained model or live feed. Synthetic positions. Illustrative scenarios.</a:t>
            </a:r>
          </a:p>
          <a:p xmlns:a="http://schemas.openxmlformats.org/drawingml/2006/main">
            <a:pPr>
              <a:defRPr sz="1725" b="0">
                <a:solidFill>
                  <a:srgbClr val="53675D"/>
                </a:solidFill>
                <a:latin typeface="Arial"/>
                <a:ea typeface="Arial"/>
                <a:cs typeface="Arial"/>
              </a:defRPr>
            </a:pPr>
            <a:r>
              <a:rPr sz="1725" b="0">
                <a:solidFill>
                  <a:srgbClr val="53675D"/>
                </a:solidFill>
                <a:latin typeface="Arial"/>
                <a:ea typeface="Arial"/>
                <a:cs typeface="Arial"/>
              </a:rPr>
              <a:t>The immediate use case is analyst triage and transparent what-if discussion.</a:t>
            </a:r>
          </a:p>
        </p:txBody>
      </p:sp>
    </p:spTree>
    <p:extLst>
      <p:ext uri="{BB962C8B-B14F-4D97-AF65-F5344CB8AC3E}">
        <p14:creationId xmlns:p14="http://schemas.microsoft.com/office/powerpoint/2010/main" val="15723080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2026-10-19T14:47:52.4140000Z</dcterms:created>
  <dcterms:modified xsi:type="dcterms:W3CDTF">2026-10-19T14:47:52.4140000Z</dcterms:modified>
</coreProperties>
</file>